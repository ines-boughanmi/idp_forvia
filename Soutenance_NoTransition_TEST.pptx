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18120" y="0"/>
            <a:ext cx="4389120" cy="6858000"/>
          </a:xfrm>
          <a:prstGeom prst="rect">
            <a:avLst/>
          </a:prstGeom>
          <a:solidFill>
            <a:srgbClr val="001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18120" y="0"/>
            <a:ext cx="27940" cy="68580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17_x6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1600200" cy="10534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14884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F6FED"/>
                </a:solidFill>
                <a:latin typeface="Segoe UI Semibold"/>
              </a:rPr>
              <a:t>PROJET DE FIN D'ÉTUDES — MASTÈRE PROFESSIONNEL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542032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AEBBD9"/>
                </a:solidFill>
                <a:latin typeface="Segoe UI"/>
              </a:rPr>
              <a:t>Business Computing — Data Science and Software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063240"/>
            <a:ext cx="68580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900" b="1" i="0">
                <a:solidFill>
                  <a:srgbClr val="FFFFFF"/>
                </a:solidFill>
                <a:latin typeface="Segoe UI Semibold"/>
              </a:rPr>
              <a:t>IDP — Intelligent Data Platform</a:t>
            </a:r>
          </a:p>
          <a:p>
            <a:pPr algn="l">
              <a:lnSpc>
                <a:spcPct val="108000"/>
              </a:lnSpc>
            </a:pPr>
            <a:r>
              <a:rPr sz="2900" b="1" i="0">
                <a:solidFill>
                  <a:srgbClr val="FFFFFF"/>
                </a:solidFill>
                <a:latin typeface="Segoe UI Semibold"/>
              </a:rPr>
              <a:t>Surveillance intelligente des risques</a:t>
            </a:r>
          </a:p>
          <a:p>
            <a:pPr algn="l">
              <a:lnSpc>
                <a:spcPct val="108000"/>
              </a:lnSpc>
            </a:pPr>
            <a:r>
              <a:rPr sz="2900" b="1" i="0">
                <a:solidFill>
                  <a:srgbClr val="FFFFFF"/>
                </a:solidFill>
                <a:latin typeface="Segoe UI Semibold"/>
              </a:rPr>
              <a:t>dans le processus SAP Procure-to-Pay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892040"/>
            <a:ext cx="1005840" cy="381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Segoe UI Semibold"/>
              </a:rPr>
              <a:t>Élaboré par : Ines Boughanmi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413248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C4CBDA"/>
                </a:solidFill>
                <a:latin typeface="Segoe UI"/>
              </a:rPr>
              <a:t>Encadré par : M. Riadh Bouslimi (ESEN)  ·  Mme Amel Ben Abid (FORVIA)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4243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C9ABC"/>
                </a:solidFill>
                <a:latin typeface="Segoe UI"/>
              </a:rPr>
              <a:t>Université de la Manouba — École Supérieure d'Économie Numérique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016752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C9ABC"/>
                </a:solidFill>
                <a:latin typeface="Segoe UI"/>
              </a:rPr>
              <a:t>Année universitaire 2025 /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914400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6FED"/>
                </a:solidFill>
                <a:latin typeface="Segoe UI Semibold"/>
              </a:rPr>
              <a:t>EN CHIFFRES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417320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294 722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984248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EBBD9"/>
                </a:solidFill>
                <a:latin typeface="Segoe UI"/>
              </a:rPr>
              <a:t>transactions SAP P2P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624328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2 293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191256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EBBD9"/>
                </a:solidFill>
                <a:latin typeface="Segoe UI"/>
              </a:rPr>
              <a:t>fournisseurs analysés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831336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398264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EBBD9"/>
                </a:solidFill>
                <a:latin typeface="Segoe UI"/>
              </a:rPr>
              <a:t>modèles Machine Learning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5038344"/>
            <a:ext cx="3566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 Semibold"/>
              </a:rPr>
              <a:t>0-100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5605272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EBBD9"/>
                </a:solidFill>
                <a:latin typeface="Segoe UI"/>
              </a:rPr>
              <a:t>score de risque composite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6FED"/>
                </a:solidFill>
                <a:latin typeface="Segoe UI Semibold"/>
              </a:rP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749808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Déroulement de la présentation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genda01"/>
          <p:cNvSpPr/>
          <p:nvPr/>
        </p:nvSpPr>
        <p:spPr>
          <a:xfrm>
            <a:off x="502920" y="1783080"/>
            <a:ext cx="11201400" cy="1078992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64008" cy="1078992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47672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CDD6E8"/>
                </a:solidFill>
                <a:latin typeface="Segoe UI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1947672"/>
            <a:ext cx="7772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147A"/>
                </a:solidFill>
                <a:latin typeface="Segoe UI Semibold"/>
              </a:rPr>
              <a:t>Cadre du projet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37744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A5266"/>
                </a:solidFill>
                <a:latin typeface="Segoe UI"/>
              </a:rPr>
              <a:t>FORVIA, le processus P2P, la problématique et la solution IDP</a:t>
            </a:r>
          </a:p>
        </p:txBody>
      </p:sp>
      <p:sp>
        <p:nvSpPr>
          <p:cNvPr id="11" name="agenda02"/>
          <p:cNvSpPr/>
          <p:nvPr/>
        </p:nvSpPr>
        <p:spPr>
          <a:xfrm>
            <a:off x="502920" y="3008376"/>
            <a:ext cx="11201400" cy="1078992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008376"/>
            <a:ext cx="64008" cy="1078992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172968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CDD6E8"/>
                </a:solidFill>
                <a:latin typeface="Segoe UI Semi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172968"/>
            <a:ext cx="7772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147A"/>
                </a:solidFill>
                <a:latin typeface="Segoe UI Semibold"/>
              </a:rPr>
              <a:t>Données &amp; préparation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602736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A5266"/>
                </a:solidFill>
                <a:latin typeface="Segoe UI"/>
              </a:rPr>
              <a:t>Volume, qualité, feature engineering et gestion du déséquilibre</a:t>
            </a:r>
          </a:p>
        </p:txBody>
      </p:sp>
      <p:sp>
        <p:nvSpPr>
          <p:cNvPr id="16" name="agenda03"/>
          <p:cNvSpPr/>
          <p:nvPr/>
        </p:nvSpPr>
        <p:spPr>
          <a:xfrm>
            <a:off x="502920" y="4233672"/>
            <a:ext cx="11201400" cy="1078992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233672"/>
            <a:ext cx="64008" cy="1078992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98264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CDD6E8"/>
                </a:solidFill>
                <a:latin typeface="Segoe UI Semi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398264"/>
            <a:ext cx="7772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147A"/>
                </a:solidFill>
                <a:latin typeface="Segoe UI Semibold"/>
              </a:rPr>
              <a:t>Modélisation &amp; évaluation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828032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A5266"/>
                </a:solidFill>
                <a:latin typeface="Segoe UI"/>
              </a:rPr>
              <a:t>6 modèles ML, performances, score de risque composite, assistant IA</a:t>
            </a:r>
          </a:p>
        </p:txBody>
      </p:sp>
      <p:sp>
        <p:nvSpPr>
          <p:cNvPr id="21" name="agenda04"/>
          <p:cNvSpPr/>
          <p:nvPr/>
        </p:nvSpPr>
        <p:spPr>
          <a:xfrm>
            <a:off x="502920" y="5458968"/>
            <a:ext cx="11201400" cy="1078992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5458968"/>
            <a:ext cx="64008" cy="1078992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623559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CDD6E8"/>
                </a:solidFill>
                <a:latin typeface="Segoe UI Semibol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5623559"/>
            <a:ext cx="7772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147A"/>
                </a:solidFill>
                <a:latin typeface="Segoe UI Semibold"/>
              </a:rPr>
              <a:t>Déploiement &amp; démonstration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6053328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4A5266"/>
                </a:solidFill>
                <a:latin typeface="Segoe UI"/>
              </a:rPr>
              <a:t>Architecture technique, plateforme web, Azure et perspectives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82296" cy="1828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tNo"/>
          <p:cNvSpPr txBox="1"/>
          <p:nvPr/>
        </p:nvSpPr>
        <p:spPr>
          <a:xfrm>
            <a:off x="1051560" y="221284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F6FED"/>
                </a:solidFill>
                <a:latin typeface="Segoe UI Semibold"/>
              </a:rPr>
              <a:t>PARTIE 1</a:t>
            </a:r>
          </a:p>
        </p:txBody>
      </p:sp>
      <p:sp>
        <p:nvSpPr>
          <p:cNvPr id="5" name="DividerTitle"/>
          <p:cNvSpPr txBox="1"/>
          <p:nvPr/>
        </p:nvSpPr>
        <p:spPr>
          <a:xfrm>
            <a:off x="1033271" y="269748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Segoe UI Semibold"/>
              </a:rPr>
              <a:t>Cadre du projet</a:t>
            </a:r>
          </a:p>
        </p:txBody>
      </p:sp>
      <p:sp>
        <p:nvSpPr>
          <p:cNvPr id="6" name="DividerSub"/>
          <p:cNvSpPr txBox="1"/>
          <p:nvPr/>
        </p:nvSpPr>
        <p:spPr>
          <a:xfrm>
            <a:off x="1051560" y="370332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AEBBD9"/>
                </a:solidFill>
                <a:latin typeface="Segoe UI"/>
              </a:rPr>
              <a:t>FORVIA, le centre FIT, le processus Procure-to-Pay et la solution IDP proposée.</a:t>
            </a:r>
          </a:p>
        </p:txBody>
      </p:sp>
      <p:pic>
        <p:nvPicPr>
          <p:cNvPr id="7" name="Picture 6" descr="p17_x6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554480" cy="10233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75720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68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1 · CADRE DU PROJET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FORVIA &amp; FIT — l'entreprise d'accueil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6035040" cy="457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2016"/>
              </a:spcAft>
            </a:pPr>
            <a:r>
              <a:rPr sz="14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450" b="1">
                <a:solidFill>
                  <a:srgbClr val="00147A"/>
                </a:solidFill>
                <a:latin typeface="Segoe UI"/>
              </a:rPr>
              <a:t>FORVIA — </a:t>
            </a:r>
            <a:r>
              <a:rPr sz="1450">
                <a:solidFill>
                  <a:srgbClr val="11151F"/>
                </a:solidFill>
                <a:latin typeface="Segoe UI"/>
              </a:rPr>
              <a:t>né de la fusion Faurecia × Hella (2022), 7ᵉ équipementier automobile mondial.</a:t>
            </a:r>
          </a:p>
          <a:p>
            <a:pPr>
              <a:lnSpc>
                <a:spcPct val="108000"/>
              </a:lnSpc>
              <a:spcAft>
                <a:spcPts val="2016"/>
              </a:spcAft>
            </a:pPr>
            <a:r>
              <a:rPr sz="14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450" b="1">
                <a:solidFill>
                  <a:srgbClr val="00147A"/>
                </a:solidFill>
                <a:latin typeface="Segoe UI"/>
              </a:rPr>
              <a:t>Présence mondiale — </a:t>
            </a:r>
            <a:r>
              <a:rPr sz="1450">
                <a:solidFill>
                  <a:srgbClr val="11151F"/>
                </a:solidFill>
                <a:latin typeface="Segoe UI"/>
              </a:rPr>
              <a:t>plus de 40 pays, 300+ sites industriels, 63 centres de R&amp;D, ~150 000 collaborateurs.</a:t>
            </a:r>
          </a:p>
          <a:p>
            <a:pPr>
              <a:lnSpc>
                <a:spcPct val="108000"/>
              </a:lnSpc>
              <a:spcAft>
                <a:spcPts val="2016"/>
              </a:spcAft>
            </a:pPr>
            <a:r>
              <a:rPr sz="14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450" b="1">
                <a:solidFill>
                  <a:srgbClr val="00147A"/>
                </a:solidFill>
                <a:latin typeface="Segoe UI"/>
              </a:rPr>
              <a:t>6 pôles d'activité — </a:t>
            </a:r>
            <a:r>
              <a:rPr sz="1450">
                <a:solidFill>
                  <a:srgbClr val="11151F"/>
                </a:solidFill>
                <a:latin typeface="Segoe UI"/>
              </a:rPr>
              <a:t>Sièges automobiles, Intérieurs, Mobilité propre, Électronique, Éclairage, Lifecycle Solutions.</a:t>
            </a:r>
          </a:p>
          <a:p>
            <a:pPr>
              <a:lnSpc>
                <a:spcPct val="108000"/>
              </a:lnSpc>
              <a:spcAft>
                <a:spcPts val="2016"/>
              </a:spcAft>
            </a:pPr>
            <a:r>
              <a:rPr sz="14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450" b="1">
                <a:solidFill>
                  <a:srgbClr val="00147A"/>
                </a:solidFill>
                <a:latin typeface="Segoe UI"/>
              </a:rPr>
              <a:t>FIT (Faurecia Informatique Tunisie) — </a:t>
            </a:r>
            <a:r>
              <a:rPr sz="1450">
                <a:solidFill>
                  <a:srgbClr val="11151F"/>
                </a:solidFill>
                <a:latin typeface="Segoe UI"/>
              </a:rPr>
              <a:t>centre informatique du groupe à Tunis, SARL fondée en 2009, ~200 collaborateurs.</a:t>
            </a:r>
          </a:p>
          <a:p>
            <a:pPr>
              <a:lnSpc>
                <a:spcPct val="108000"/>
              </a:lnSpc>
              <a:spcAft>
                <a:spcPts val="2016"/>
              </a:spcAft>
            </a:pPr>
            <a:r>
              <a:rPr sz="14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450" b="1">
                <a:solidFill>
                  <a:srgbClr val="00147A"/>
                </a:solidFill>
                <a:latin typeface="Segoe UI"/>
              </a:rPr>
              <a:t>Missions de FIT — </a:t>
            </a:r>
            <a:r>
              <a:rPr sz="1450">
                <a:solidFill>
                  <a:srgbClr val="11151F"/>
                </a:solidFill>
                <a:latin typeface="Segoe UI"/>
              </a:rPr>
              <a:t>applications métier, intégration SAP, intelligence artificielle, gouvernance SI du groupe.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903720" y="155448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  <a:effectLst/>
          <a:effectLst>
            <a:outerShdw blurRad="80000" dist="24000" dir="5400000" rotWithShape="0">
              <a:srgbClr val="1115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03720" y="1554480"/>
            <a:ext cx="64008" cy="13716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04888" y="1682496"/>
            <a:ext cx="1965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147A"/>
                </a:solidFill>
                <a:latin typeface="Segoe UI Semibold"/>
              </a:rPr>
              <a:t>1 véhicule</a:t>
            </a:r>
          </a:p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147A"/>
                </a:solidFill>
                <a:latin typeface="Segoe UI Semibold"/>
              </a:rPr>
              <a:t>sur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04888" y="2468880"/>
            <a:ext cx="1965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dans le monde équipé d'au moins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un produit FORVIA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72600" y="155448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  <a:effectLst/>
          <a:effectLst>
            <a:outerShdw blurRad="80000" dist="24000" dir="5400000" rotWithShape="0">
              <a:srgbClr val="1115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72600" y="1554480"/>
            <a:ext cx="64008" cy="13716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73768" y="1682496"/>
            <a:ext cx="1965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147A"/>
                </a:solidFill>
                <a:latin typeface="Segoe UI Semibold"/>
              </a:rPr>
              <a:t>150 000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73768" y="2468880"/>
            <a:ext cx="1965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collaborateurs, dont 35 000+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ingénieurs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3720" y="306324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  <a:effectLst/>
          <a:effectLst>
            <a:outerShdw blurRad="80000" dist="24000" dir="5400000" rotWithShape="0">
              <a:srgbClr val="1115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03720" y="3063240"/>
            <a:ext cx="64008" cy="13716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04888" y="3191256"/>
            <a:ext cx="1965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147A"/>
                </a:solidFill>
                <a:latin typeface="Segoe UI Semibold"/>
              </a:rPr>
              <a:t>2009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3977640"/>
            <a:ext cx="1965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création du centre FIT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à Tunis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72600" y="3063240"/>
            <a:ext cx="23317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  <a:effectLst/>
          <a:effectLst>
            <a:outerShdw blurRad="80000" dist="24000" dir="5400000" rotWithShape="0">
              <a:srgbClr val="1115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72600" y="3063240"/>
            <a:ext cx="64008" cy="13716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73768" y="3191256"/>
            <a:ext cx="1965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147A"/>
                </a:solidFill>
                <a:latin typeface="Segoe UI Semibold"/>
              </a:rPr>
              <a:t>~200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73768" y="3977640"/>
            <a:ext cx="19659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collaborateurs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au centre FIT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1 · CADRE DU PROJET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Le processus SAP Procure-to-Pay (P2P)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4A5266"/>
                </a:solidFill>
                <a:latin typeface="Segoe UI"/>
              </a:rPr>
              <a:t>Le cycle P2P couvre l'ensemble du flux, de la commande d'achat jusqu'au paiement du fournisseur.</a:t>
            </a:r>
          </a:p>
        </p:txBody>
      </p:sp>
      <p:sp>
        <p:nvSpPr>
          <p:cNvPr id="8" name="step_PO"/>
          <p:cNvSpPr/>
          <p:nvPr/>
        </p:nvSpPr>
        <p:spPr>
          <a:xfrm>
            <a:off x="502920" y="1965960"/>
            <a:ext cx="3520440" cy="141732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3520440" cy="64008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2140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023C9"/>
                </a:solidFill>
                <a:latin typeface="Segoe UI Semibold"/>
              </a:rPr>
              <a:t>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1151F"/>
                </a:solidFill>
                <a:latin typeface="Segoe UI Semibold"/>
              </a:rPr>
              <a:t>Purchase Order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Émission d'une commande d'achat vers un fournisseur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69080" y="2651760"/>
            <a:ext cx="320040" cy="0"/>
          </a:xfrm>
          <a:prstGeom prst="line">
            <a:avLst/>
          </a:prstGeom>
          <a:ln w="27940">
            <a:solidFill>
              <a:srgbClr val="002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ep_GR"/>
          <p:cNvSpPr/>
          <p:nvPr/>
        </p:nvSpPr>
        <p:spPr>
          <a:xfrm>
            <a:off x="4416552" y="1965960"/>
            <a:ext cx="3520440" cy="141732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16552" y="1965960"/>
            <a:ext cx="3520440" cy="64008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212140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023C9"/>
                </a:solidFill>
                <a:latin typeface="Segoe UI Semibold"/>
              </a:rPr>
              <a:t>GR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6060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1151F"/>
                </a:solidFill>
                <a:latin typeface="Segoe UI Semibold"/>
              </a:rPr>
              <a:t>Goods Receipt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2" y="292608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Réception physique des biens ou services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82712" y="2651760"/>
            <a:ext cx="320040" cy="0"/>
          </a:xfrm>
          <a:prstGeom prst="line">
            <a:avLst/>
          </a:prstGeom>
          <a:ln w="27940">
            <a:solidFill>
              <a:srgbClr val="002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step_IR"/>
          <p:cNvSpPr/>
          <p:nvPr/>
        </p:nvSpPr>
        <p:spPr>
          <a:xfrm>
            <a:off x="8330183" y="1965960"/>
            <a:ext cx="3520440" cy="141732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30183" y="1965960"/>
            <a:ext cx="3520440" cy="64008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58784" y="2121408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0023C9"/>
                </a:solidFill>
                <a:latin typeface="Segoe UI Semibold"/>
              </a:rPr>
              <a:t>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58784" y="26060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1151F"/>
                </a:solidFill>
                <a:latin typeface="Segoe UI Semibold"/>
              </a:rPr>
              <a:t>Invoice Receipt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58784" y="292608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Réception et enregistrement de la facture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749039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0147A"/>
                </a:solidFill>
                <a:latin typeface="Segoe UI Semibold"/>
              </a:rPr>
              <a:t>Flux de données du projet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160520"/>
            <a:ext cx="201168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160520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1151F"/>
                </a:solidFill>
                <a:latin typeface="Segoe UI"/>
              </a:rPr>
              <a:t>SAP</a:t>
            </a:r>
          </a:p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1151F"/>
                </a:solidFill>
                <a:latin typeface="Segoe UI"/>
              </a:rPr>
              <a:t>(table EKBE)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514600" y="4590288"/>
            <a:ext cx="164592" cy="0"/>
          </a:xfrm>
          <a:prstGeom prst="line">
            <a:avLst/>
          </a:prstGeom>
          <a:ln w="3048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679192" y="4160520"/>
            <a:ext cx="201168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70632" y="4160520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1151F"/>
                </a:solidFill>
                <a:latin typeface="Segoe UI"/>
              </a:rPr>
              <a:t>Palantir</a:t>
            </a:r>
          </a:p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1151F"/>
                </a:solidFill>
                <a:latin typeface="Segoe UI"/>
              </a:rPr>
              <a:t>(centralisation)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690872" y="4590288"/>
            <a:ext cx="164592" cy="0"/>
          </a:xfrm>
          <a:prstGeom prst="line">
            <a:avLst/>
          </a:prstGeom>
          <a:ln w="3048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855464" y="4160520"/>
            <a:ext cx="201168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46904" y="4160520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1151F"/>
                </a:solidFill>
                <a:latin typeface="Segoe UI"/>
              </a:rPr>
              <a:t>Extraction</a:t>
            </a:r>
          </a:p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1151F"/>
                </a:solidFill>
                <a:latin typeface="Segoe UI"/>
              </a:rPr>
              <a:t>CSV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867144" y="4590288"/>
            <a:ext cx="164592" cy="0"/>
          </a:xfrm>
          <a:prstGeom prst="line">
            <a:avLst/>
          </a:prstGeom>
          <a:ln w="3048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7031736" y="4160520"/>
            <a:ext cx="201168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23176" y="4160520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1151F"/>
                </a:solidFill>
                <a:latin typeface="Segoe UI"/>
              </a:rPr>
              <a:t>Documents1.csv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043416" y="4590288"/>
            <a:ext cx="164592" cy="0"/>
          </a:xfrm>
          <a:prstGeom prst="line">
            <a:avLst/>
          </a:prstGeom>
          <a:ln w="3048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9208008" y="4160520"/>
            <a:ext cx="2011680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99448" y="4160520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1151F"/>
                </a:solidFill>
                <a:latin typeface="Segoe UI"/>
              </a:rPr>
              <a:t>Projet IDP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25780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4A5266"/>
                </a:solidFill>
                <a:latin typeface="Segoe UI"/>
              </a:rPr>
              <a:t>Les données SAP P2P transitent par Palantir (plateforme d'intégration et d'analyse) qui centralise, nettoie et structure les données avant extraction. Le projet IDP exploite des extraits déjà validés — aucune connexion directe aux systèmes SAP de production.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1 · CADRE DU PROJET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Problématique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A5266"/>
                </a:solidFill>
                <a:latin typeface="Segoe UI"/>
              </a:rPr>
              <a:t>La surveillance actuelle du processus P2P repose sur des contrôles manuels et des rapports SAP périodiques, qui montrent leurs limites face au volume de transactions FORVIA.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48840"/>
            <a:ext cx="11201400" cy="749808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48840"/>
            <a:ext cx="64008" cy="749808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58568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5484D"/>
                </a:solidFill>
                <a:latin typeface="Segoe UI Semibold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240280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0147A"/>
                </a:solidFill>
                <a:latin typeface="Segoe UI Semibold"/>
              </a:rPr>
              <a:t>Détection tardive</a:t>
            </a:r>
            <a:r>
              <a:rPr sz="1300">
                <a:solidFill>
                  <a:srgbClr val="4A5266"/>
                </a:solidFill>
                <a:latin typeface="Segoe UI"/>
              </a:rPr>
              <a:t>  des anomalies GR/IR (écarts réception/facture) → sur-paiements, blocages de paiement.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017520"/>
            <a:ext cx="11201400" cy="749808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017520"/>
            <a:ext cx="64008" cy="749808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127248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5484D"/>
                </a:solidFill>
                <a:latin typeface="Segoe UI Semibold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108960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0147A"/>
                </a:solidFill>
                <a:latin typeface="Segoe UI Semibold"/>
              </a:rPr>
              <a:t>Vieillissement non contrôlé</a:t>
            </a:r>
            <a:r>
              <a:rPr sz="1300">
                <a:solidFill>
                  <a:srgbClr val="4A5266"/>
                </a:solidFill>
                <a:latin typeface="Segoe UI"/>
              </a:rPr>
              <a:t>  des factures non rapprochées, sans alerte automatique.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86200"/>
            <a:ext cx="11201400" cy="749808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886200"/>
            <a:ext cx="64008" cy="749808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95928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5484D"/>
                </a:solidFill>
                <a:latin typeface="Segoe UI Semibold"/>
              </a:rPr>
              <a:t>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977639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0147A"/>
                </a:solidFill>
                <a:latin typeface="Segoe UI Semibold"/>
              </a:rPr>
              <a:t>Absence de scoring consolidé</a:t>
            </a:r>
            <a:r>
              <a:rPr sz="1300">
                <a:solidFill>
                  <a:srgbClr val="4A5266"/>
                </a:solidFill>
                <a:latin typeface="Segoe UI"/>
              </a:rPr>
              <a:t>  du risque fournisseur à l'échelle de l'entreprise.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754880"/>
            <a:ext cx="11201400" cy="749808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754880"/>
            <a:ext cx="64008" cy="749808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864608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5484D"/>
                </a:solidFill>
                <a:latin typeface="Segoe UI Semibold"/>
              </a:rPr>
              <a:t>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846320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0147A"/>
                </a:solidFill>
                <a:latin typeface="Segoe UI Semibold"/>
              </a:rPr>
              <a:t>Revue manuelle chronophage</a:t>
            </a:r>
            <a:r>
              <a:rPr sz="1300">
                <a:solidFill>
                  <a:srgbClr val="4A5266"/>
                </a:solidFill>
                <a:latin typeface="Segoe UI"/>
              </a:rPr>
              <a:t>  parcours fastidieux des rapports SAP par les équipes achats/finance.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623560"/>
            <a:ext cx="11201400" cy="749808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623560"/>
            <a:ext cx="64008" cy="749808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733288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E5484D"/>
                </a:solidFill>
                <a:latin typeface="Segoe UI Semibold"/>
              </a:rP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715000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0147A"/>
                </a:solidFill>
                <a:latin typeface="Segoe UI Semibold"/>
              </a:rPr>
              <a:t>Pas de tableau de bord unique</a:t>
            </a:r>
            <a:r>
              <a:rPr sz="1300">
                <a:solidFill>
                  <a:srgbClr val="4A5266"/>
                </a:solidFill>
                <a:latin typeface="Segoe UI"/>
              </a:rPr>
              <a:t>  ni de KPI centralisés pour piloter le risque P2P.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1 · CADRE DU PROJET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Solution proposée — Plateforme IDP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A5266"/>
                </a:solidFill>
                <a:latin typeface="Segoe UI"/>
              </a:rPr>
              <a:t>Une approche hybride combinant règles métier déterministes et Machine Learning pour un score de risque composite 0–100, par transaction et par fournisseur.</a:t>
            </a:r>
          </a:p>
        </p:txBody>
      </p:sp>
      <p:sp>
        <p:nvSpPr>
          <p:cNvPr id="8" name="pilier0"/>
          <p:cNvSpPr/>
          <p:nvPr/>
        </p:nvSpPr>
        <p:spPr>
          <a:xfrm>
            <a:off x="502920" y="2148840"/>
            <a:ext cx="2724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48840"/>
            <a:ext cx="2724912" cy="82296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2423160"/>
            <a:ext cx="502920" cy="502920"/>
          </a:xfrm>
          <a:prstGeom prst="ellipse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10896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1151F"/>
                </a:solidFill>
                <a:latin typeface="Segoe UI Semibold"/>
              </a:rPr>
              <a:t>Pipeline 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886200"/>
            <a:ext cx="2331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Nettoyage, feature engineering, règles métier + 6 modèles ML → score composite</a:t>
            </a:r>
          </a:p>
        </p:txBody>
      </p:sp>
      <p:sp>
        <p:nvSpPr>
          <p:cNvPr id="14" name="pilier1"/>
          <p:cNvSpPr/>
          <p:nvPr/>
        </p:nvSpPr>
        <p:spPr>
          <a:xfrm>
            <a:off x="3364991" y="2148840"/>
            <a:ext cx="2724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64991" y="2148840"/>
            <a:ext cx="2724912" cy="8229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93591" y="2423160"/>
            <a:ext cx="502920" cy="50292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3591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10896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1151F"/>
                </a:solidFill>
                <a:latin typeface="Segoe UI Semibold"/>
              </a:rPr>
              <a:t>API REST FastAPI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886200"/>
            <a:ext cx="2331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Endpoints sécurisés JWT, orchestration du scoring, exposition des données</a:t>
            </a:r>
          </a:p>
        </p:txBody>
      </p:sp>
      <p:sp>
        <p:nvSpPr>
          <p:cNvPr id="20" name="pilier2"/>
          <p:cNvSpPr/>
          <p:nvPr/>
        </p:nvSpPr>
        <p:spPr>
          <a:xfrm>
            <a:off x="6227064" y="2148840"/>
            <a:ext cx="2724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27064" y="2148840"/>
            <a:ext cx="2724912" cy="82296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55664" y="2423160"/>
            <a:ext cx="502920" cy="502920"/>
          </a:xfrm>
          <a:prstGeom prst="ellipse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1" y="310896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1151F"/>
                </a:solidFill>
                <a:latin typeface="Segoe UI Semibold"/>
              </a:rPr>
              <a:t>Dashboard Web React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1" y="3886200"/>
            <a:ext cx="2331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KPI globaux, vues 360°, transactions à risque, chatbot RAG</a:t>
            </a:r>
          </a:p>
        </p:txBody>
      </p:sp>
      <p:sp>
        <p:nvSpPr>
          <p:cNvPr id="26" name="pilier3"/>
          <p:cNvSpPr/>
          <p:nvPr/>
        </p:nvSpPr>
        <p:spPr>
          <a:xfrm>
            <a:off x="9089136" y="2148840"/>
            <a:ext cx="272491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89136" y="2148840"/>
            <a:ext cx="2724912" cy="82296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317736" y="2423160"/>
            <a:ext cx="502920" cy="502920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17736" y="24231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0304" y="3108960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1151F"/>
                </a:solidFill>
                <a:latin typeface="Segoe UI Semibold"/>
              </a:rPr>
              <a:t>Power BI + Power Automate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0304" y="3886200"/>
            <a:ext cx="2331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Reporting métier et workflows d'alerte automatisés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1 · CADRE DU PROJET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Architecture générale de la plateforme IDP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2331720" cy="8595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228600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23C9"/>
                </a:solidFill>
                <a:latin typeface="Segoe UI Semibold"/>
              </a:rPr>
              <a:t>1. DONNÉES SAP P2P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1481328"/>
            <a:ext cx="4027932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002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481328"/>
            <a:ext cx="393649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SAP — Table EKBE (FORVIA)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09460" y="1481328"/>
            <a:ext cx="4027932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002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55180" y="1481328"/>
            <a:ext cx="393649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Documents1.csv — 294 722 tx / 2 293 fournisseurs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26480" y="2340864"/>
            <a:ext cx="0" cy="128016"/>
          </a:xfrm>
          <a:prstGeom prst="line">
            <a:avLst/>
          </a:prstGeom>
          <a:ln w="20320">
            <a:solidFill>
              <a:srgbClr val="8A9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02920" y="2560320"/>
            <a:ext cx="2331720" cy="8595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724912"/>
            <a:ext cx="228600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2. PIPELINE MACHINE LEARNING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71800" y="2560320"/>
            <a:ext cx="1545336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2560320"/>
            <a:ext cx="14538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Ingestion &amp; nettoyage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2560320"/>
            <a:ext cx="1545336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4" y="2560320"/>
            <a:ext cx="14538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Feature engineering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81928" y="2560320"/>
            <a:ext cx="1545336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2560320"/>
            <a:ext cx="14538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Rule Engine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36992" y="2560320"/>
            <a:ext cx="1545336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82712" y="2560320"/>
            <a:ext cx="14538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Modèles ML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92056" y="2560320"/>
            <a:ext cx="1545336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37776" y="2560320"/>
            <a:ext cx="14538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Scoring &amp; Risque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126480" y="3419856"/>
            <a:ext cx="0" cy="128016"/>
          </a:xfrm>
          <a:prstGeom prst="line">
            <a:avLst/>
          </a:prstGeom>
          <a:ln w="20320">
            <a:solidFill>
              <a:srgbClr val="8A9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02920" y="3639312"/>
            <a:ext cx="2331720" cy="8595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803904"/>
            <a:ext cx="228600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23C9"/>
                </a:solidFill>
                <a:latin typeface="Segoe UI Semibold"/>
              </a:rPr>
              <a:t>3. API REST — FastAPI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971800" y="3639312"/>
            <a:ext cx="1959102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002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0" y="3639312"/>
            <a:ext cx="186766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Authentification JWT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40630" y="3639312"/>
            <a:ext cx="1959102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002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86350" y="3639312"/>
            <a:ext cx="186766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Orchestration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09460" y="3639312"/>
            <a:ext cx="1959102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002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55180" y="3639312"/>
            <a:ext cx="186766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Stockage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78290" y="3639312"/>
            <a:ext cx="1959102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002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24010" y="3639312"/>
            <a:ext cx="186766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Services métier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126480" y="4498848"/>
            <a:ext cx="0" cy="128016"/>
          </a:xfrm>
          <a:prstGeom prst="line">
            <a:avLst/>
          </a:prstGeom>
          <a:ln w="20320">
            <a:solidFill>
              <a:srgbClr val="8A9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502920" y="4718304"/>
            <a:ext cx="2331720" cy="8595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4882896"/>
            <a:ext cx="228600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4. DASHBOARD WEB — React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71800" y="4718304"/>
            <a:ext cx="1545336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17520" y="4718304"/>
            <a:ext cx="14538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Dashboard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26864" y="4718304"/>
            <a:ext cx="1545336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72584" y="4718304"/>
            <a:ext cx="14538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Supplier 360°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81928" y="4718304"/>
            <a:ext cx="1545336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27648" y="4718304"/>
            <a:ext cx="14538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Transactions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36992" y="4718304"/>
            <a:ext cx="1545336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82712" y="4718304"/>
            <a:ext cx="14538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Analytics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92056" y="4718304"/>
            <a:ext cx="1545336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2F6F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37776" y="4718304"/>
            <a:ext cx="14538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Assistant IA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126480" y="5577840"/>
            <a:ext cx="0" cy="128016"/>
          </a:xfrm>
          <a:prstGeom prst="line">
            <a:avLst/>
          </a:prstGeom>
          <a:ln w="20320">
            <a:solidFill>
              <a:srgbClr val="8A93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502920" y="5797296"/>
            <a:ext cx="2331720" cy="8595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5961888"/>
            <a:ext cx="2286000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023C9"/>
                </a:solidFill>
                <a:latin typeface="Segoe UI Semibold"/>
              </a:rPr>
              <a:t>5. RESTITUTION &amp; AUTOMATISATION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71800" y="5797296"/>
            <a:ext cx="4027932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002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017520" y="5797296"/>
            <a:ext cx="393649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Power BI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09460" y="5797296"/>
            <a:ext cx="4027932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002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55180" y="5797296"/>
            <a:ext cx="3936492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80" b="1" i="0">
                <a:solidFill>
                  <a:srgbClr val="11151F"/>
                </a:solidFill>
                <a:latin typeface="Segoe UI"/>
              </a:rPr>
              <a:t>Power Automate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1 · CADRE DU PROJET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Méthodologie CRISP-DM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6766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4A5266"/>
                </a:solidFill>
                <a:latin typeface="Segoe UI"/>
              </a:rPr>
              <a:t>Retenue après comparaison avec KDD, SEMMA et TDSP : couverture complète du cycle de vie, démarche itérative et indépendance vis-à-vis de l'outillage (Python, scikit-learn, FastAPI, React).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40280"/>
            <a:ext cx="2148840" cy="1207008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240280"/>
            <a:ext cx="54864" cy="1207008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1343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23C9"/>
                </a:solidFill>
                <a:latin typeface="Segoe UI Semi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24328"/>
            <a:ext cx="1874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1151F"/>
                </a:solidFill>
                <a:latin typeface="Segoe UI"/>
              </a:rPr>
              <a:t>Business</a:t>
            </a:r>
          </a:p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1151F"/>
                </a:solidFill>
                <a:latin typeface="Segoe UI"/>
              </a:rPr>
              <a:t>Understanding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26664"/>
            <a:ext cx="1874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80" b="0" i="0">
                <a:solidFill>
                  <a:srgbClr val="4A5266"/>
                </a:solidFill>
                <a:latin typeface="Segoe UI"/>
              </a:rPr>
              <a:t>Analyse du processus P2P FORVIA, objectifs de scoring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16352" y="2240280"/>
            <a:ext cx="2148840" cy="1207008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16352" y="2240280"/>
            <a:ext cx="54864" cy="1207008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53512" y="231343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23C9"/>
                </a:solidFill>
                <a:latin typeface="Segoe UI Semibol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3512" y="2624328"/>
            <a:ext cx="1874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1151F"/>
                </a:solidFill>
                <a:latin typeface="Segoe UI"/>
              </a:rPr>
              <a:t>Data</a:t>
            </a:r>
          </a:p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1151F"/>
                </a:solidFill>
                <a:latin typeface="Segoe UI"/>
              </a:rPr>
              <a:t>Understanding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3026664"/>
            <a:ext cx="1874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80" b="0" i="0">
                <a:solidFill>
                  <a:srgbClr val="4A5266"/>
                </a:solidFill>
                <a:latin typeface="Segoe UI"/>
              </a:rPr>
              <a:t>Exploration de Documents1.csv, structure PO/GR/IR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29784" y="2240280"/>
            <a:ext cx="2148840" cy="1207008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29784" y="2240280"/>
            <a:ext cx="54864" cy="1207008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66944" y="231343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23C9"/>
                </a:solidFill>
                <a:latin typeface="Segoe UI Semi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6944" y="2624328"/>
            <a:ext cx="1874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1151F"/>
                </a:solidFill>
                <a:latin typeface="Segoe UI"/>
              </a:rPr>
              <a:t>Data</a:t>
            </a:r>
          </a:p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1151F"/>
                </a:solidFill>
                <a:latin typeface="Segoe UI"/>
              </a:rPr>
              <a:t>Preparation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6944" y="3026664"/>
            <a:ext cx="1874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80" b="0" i="0">
                <a:solidFill>
                  <a:srgbClr val="4A5266"/>
                </a:solidFill>
                <a:latin typeface="Segoe UI"/>
              </a:rPr>
              <a:t>Nettoyage, feature engineering, labels proxy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593592"/>
            <a:ext cx="2148840" cy="1207008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3593592"/>
            <a:ext cx="54864" cy="1207008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66674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23C9"/>
                </a:solidFill>
                <a:latin typeface="Segoe UI Semibol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977640"/>
            <a:ext cx="1874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1151F"/>
                </a:solidFill>
                <a:latin typeface="Segoe UI"/>
              </a:rPr>
              <a:t>Modeling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379976"/>
            <a:ext cx="1874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80" b="0" i="0">
                <a:solidFill>
                  <a:srgbClr val="4A5266"/>
                </a:solidFill>
                <a:latin typeface="Segoe UI"/>
              </a:rPr>
              <a:t>6 modèles ML (4 supervisés + 2 non supervisés)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3593592"/>
            <a:ext cx="2148840" cy="1207008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816352" y="3593592"/>
            <a:ext cx="54864" cy="1207008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53512" y="366674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23C9"/>
                </a:solidFill>
                <a:latin typeface="Segoe UI Semibold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53512" y="3977640"/>
            <a:ext cx="1874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1151F"/>
                </a:solidFill>
                <a:latin typeface="Segoe UI"/>
              </a:rPr>
              <a:t>Evaluation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53512" y="4379976"/>
            <a:ext cx="1874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80" b="0" i="0">
                <a:solidFill>
                  <a:srgbClr val="4A5266"/>
                </a:solidFill>
                <a:latin typeface="Segoe UI"/>
              </a:rPr>
              <a:t>Cross-validation, F1/AUC-ROC, cohérence métier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9784" y="3593592"/>
            <a:ext cx="2148840" cy="1207008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129784" y="3593592"/>
            <a:ext cx="54864" cy="1207008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66944" y="366674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023C9"/>
                </a:solidFill>
                <a:latin typeface="Segoe UI Semibold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66944" y="3977640"/>
            <a:ext cx="1874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150" b="1" i="0">
                <a:solidFill>
                  <a:srgbClr val="11151F"/>
                </a:solidFill>
                <a:latin typeface="Segoe UI"/>
              </a:rPr>
              <a:t>Deployment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66944" y="4379976"/>
            <a:ext cx="1874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880" b="0" i="0">
                <a:solidFill>
                  <a:srgbClr val="4A5266"/>
                </a:solidFill>
                <a:latin typeface="Segoe UI"/>
              </a:rPr>
              <a:t>API FastAPI, dashboard React, RAG, pistes Azure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800" y="141732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2F6FED"/>
                </a:solidFill>
                <a:latin typeface="Segoe UI Semibold"/>
              </a:rPr>
              <a:t>PLANNING — 20 SEMAINES (FÉV. À JUIN)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1874519"/>
            <a:ext cx="4160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1151F"/>
                </a:solidFill>
                <a:latin typeface="Segoe UI"/>
              </a:rPr>
              <a:t>Compréhension du projet &amp; des données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43800" y="2075688"/>
            <a:ext cx="4160520" cy="118872"/>
          </a:xfrm>
          <a:prstGeom prst="rect">
            <a:avLst/>
          </a:prstGeom>
          <a:solidFill>
            <a:srgbClr val="E2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543800" y="2075688"/>
            <a:ext cx="1849120" cy="118872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43800" y="2404872"/>
            <a:ext cx="4160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1151F"/>
                </a:solidFill>
                <a:latin typeface="Segoe UI"/>
              </a:rPr>
              <a:t>Préparation des données + Power BI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43800" y="2606040"/>
            <a:ext cx="4160520" cy="118872"/>
          </a:xfrm>
          <a:prstGeom prst="rect">
            <a:avLst/>
          </a:prstGeom>
          <a:solidFill>
            <a:srgbClr val="E2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392920" y="2606040"/>
            <a:ext cx="924560" cy="11887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43800" y="2935224"/>
            <a:ext cx="4160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1151F"/>
                </a:solidFill>
                <a:latin typeface="Segoe UI"/>
              </a:rPr>
              <a:t>Choix, dév. et optimisation du scoring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43800" y="3136392"/>
            <a:ext cx="4160520" cy="118872"/>
          </a:xfrm>
          <a:prstGeom prst="rect">
            <a:avLst/>
          </a:prstGeom>
          <a:solidFill>
            <a:srgbClr val="E2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55200" y="3136392"/>
            <a:ext cx="924560" cy="118872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43800" y="3465575"/>
            <a:ext cx="4160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1151F"/>
                </a:solidFill>
                <a:latin typeface="Segoe UI"/>
              </a:rPr>
              <a:t>Développement plateforme web (React)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43800" y="3666744"/>
            <a:ext cx="4160520" cy="118872"/>
          </a:xfrm>
          <a:prstGeom prst="rect">
            <a:avLst/>
          </a:prstGeom>
          <a:solidFill>
            <a:srgbClr val="E2E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317480" y="3666744"/>
            <a:ext cx="1386840" cy="11887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82296" cy="1828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tNo"/>
          <p:cNvSpPr txBox="1"/>
          <p:nvPr/>
        </p:nvSpPr>
        <p:spPr>
          <a:xfrm>
            <a:off x="1051560" y="221284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F6FED"/>
                </a:solidFill>
                <a:latin typeface="Segoe UI Semibold"/>
              </a:rPr>
              <a:t>PARTIE 2</a:t>
            </a:r>
          </a:p>
        </p:txBody>
      </p:sp>
      <p:sp>
        <p:nvSpPr>
          <p:cNvPr id="5" name="DividerTitle"/>
          <p:cNvSpPr txBox="1"/>
          <p:nvPr/>
        </p:nvSpPr>
        <p:spPr>
          <a:xfrm>
            <a:off x="1033271" y="269748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Segoe UI Semibold"/>
              </a:rPr>
              <a:t>Données &amp; préparation</a:t>
            </a:r>
          </a:p>
        </p:txBody>
      </p:sp>
      <p:sp>
        <p:nvSpPr>
          <p:cNvPr id="6" name="DividerSub"/>
          <p:cNvSpPr txBox="1"/>
          <p:nvPr/>
        </p:nvSpPr>
        <p:spPr>
          <a:xfrm>
            <a:off x="1051560" y="370332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AEBBD9"/>
                </a:solidFill>
                <a:latin typeface="Segoe UI"/>
              </a:rPr>
              <a:t>Volume, qualité, feature engineering et gestion du déséquilibre des classes.</a:t>
            </a:r>
          </a:p>
        </p:txBody>
      </p:sp>
      <p:pic>
        <p:nvPicPr>
          <p:cNvPr id="7" name="Picture 6" descr="p17_x6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554480" cy="10233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75720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68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2 · DONNÉES &amp; PRÉPARATION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Données — source et volume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548640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2304"/>
              </a:spcAft>
            </a:pPr>
            <a:r>
              <a:rPr sz="13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350" b="1">
                <a:solidFill>
                  <a:srgbClr val="00147A"/>
                </a:solidFill>
                <a:latin typeface="Segoe UI"/>
              </a:rPr>
              <a:t>Source — </a:t>
            </a:r>
            <a:r>
              <a:rPr sz="1350">
                <a:solidFill>
                  <a:srgbClr val="11151F"/>
                </a:solidFill>
                <a:latin typeface="Segoe UI"/>
              </a:rPr>
              <a:t>SAP ERP FORVIA, table EKBE, enrichie par EKKO, EKPO, LFA1.</a:t>
            </a:r>
          </a:p>
          <a:p>
            <a:pPr>
              <a:lnSpc>
                <a:spcPct val="108000"/>
              </a:lnSpc>
              <a:spcAft>
                <a:spcPts val="2304"/>
              </a:spcAft>
            </a:pPr>
            <a:r>
              <a:rPr sz="13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350" b="1">
                <a:solidFill>
                  <a:srgbClr val="00147A"/>
                </a:solidFill>
                <a:latin typeface="Segoe UI"/>
              </a:rPr>
              <a:t>Flux — </a:t>
            </a:r>
            <a:r>
              <a:rPr sz="1350">
                <a:solidFill>
                  <a:srgbClr val="11151F"/>
                </a:solidFill>
                <a:latin typeface="Segoe UI"/>
              </a:rPr>
              <a:t>SAP → Palantir → extraction → fichier CSV → projet IDP.</a:t>
            </a:r>
          </a:p>
          <a:p>
            <a:pPr>
              <a:lnSpc>
                <a:spcPct val="108000"/>
              </a:lnSpc>
              <a:spcAft>
                <a:spcPts val="2304"/>
              </a:spcAft>
            </a:pPr>
            <a:r>
              <a:rPr sz="13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350" b="1">
                <a:solidFill>
                  <a:srgbClr val="00147A"/>
                </a:solidFill>
                <a:latin typeface="Segoe UI"/>
              </a:rPr>
              <a:t>Fichier — </a:t>
            </a:r>
            <a:r>
              <a:rPr sz="1350">
                <a:solidFill>
                  <a:srgbClr val="11151F"/>
                </a:solidFill>
                <a:latin typeface="Segoe UI"/>
              </a:rPr>
              <a:t>Documents1.csv (~240 Mo), 59 colonnes, données internes non publiques.</a:t>
            </a:r>
          </a:p>
          <a:p>
            <a:pPr>
              <a:lnSpc>
                <a:spcPct val="108000"/>
              </a:lnSpc>
              <a:spcAft>
                <a:spcPts val="2304"/>
              </a:spcAft>
            </a:pPr>
            <a:r>
              <a:rPr sz="13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350" b="1">
                <a:solidFill>
                  <a:srgbClr val="00147A"/>
                </a:solidFill>
                <a:latin typeface="Segoe UI"/>
              </a:rPr>
              <a:t>Agrégation — </a:t>
            </a:r>
            <a:r>
              <a:rPr sz="1350">
                <a:solidFill>
                  <a:srgbClr val="11151F"/>
                </a:solidFill>
                <a:latin typeface="Segoe UI"/>
              </a:rPr>
              <a:t>par clé composite (n° PO, n° de poste) : ≈2,09 lignes brutes par transaction agrégée.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0690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  <a:effectLst/>
          <a:effectLst>
            <a:outerShdw blurRad="80000" dist="24000" dir="5400000" rotWithShape="0">
              <a:srgbClr val="1115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4069080"/>
            <a:ext cx="64008" cy="141732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4197096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147A"/>
                </a:solidFill>
                <a:latin typeface="Segoe UI Semibold"/>
              </a:rPr>
              <a:t>616 800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5029200"/>
            <a:ext cx="2331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lignes brutes (avant agrégation)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4991" y="40690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  <a:effectLst/>
          <a:effectLst>
            <a:outerShdw blurRad="80000" dist="24000" dir="5400000" rotWithShape="0">
              <a:srgbClr val="1115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4991" y="4069080"/>
            <a:ext cx="64008" cy="14173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59" y="4197096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147A"/>
                </a:solidFill>
                <a:latin typeface="Segoe UI Semibold"/>
              </a:rPr>
              <a:t>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59" y="5029200"/>
            <a:ext cx="2331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colonnes brutes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7064" y="40690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  <a:effectLst/>
          <a:effectLst>
            <a:outerShdw blurRad="80000" dist="24000" dir="5400000" rotWithShape="0">
              <a:srgbClr val="1115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7064" y="4069080"/>
            <a:ext cx="64008" cy="141732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4197096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147A"/>
                </a:solidFill>
                <a:latin typeface="Segoe UI Semibold"/>
              </a:rPr>
              <a:t>294 722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5029200"/>
            <a:ext cx="2331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transactions agrégées (PO / poste)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89136" y="40690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  <a:effectLst/>
          <a:effectLst>
            <a:outerShdw blurRad="80000" dist="24000" dir="5400000" rotWithShape="0">
              <a:srgbClr val="1115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89136" y="4069080"/>
            <a:ext cx="64008" cy="141732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4197096"/>
            <a:ext cx="23317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147A"/>
                </a:solidFill>
                <a:latin typeface="Segoe UI Semibold"/>
              </a:rPr>
              <a:t>2 293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5029200"/>
            <a:ext cx="23317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fournisseurs distincts retenus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481328"/>
            <a:ext cx="530352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A5266"/>
                </a:solidFill>
                <a:latin typeface="Segoe UI"/>
              </a:rPr>
              <a:t>9 170 identifiants fournisseurs (supplier_id) distincts figurent dans le fichier brut ; 2 293 fournisseurs subsistent après nettoyage, agrégation et filtrage.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481328"/>
            <a:ext cx="54864" cy="21031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1481328"/>
            <a:ext cx="50292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" b="0" i="0">
                <a:solidFill>
                  <a:srgbClr val="11151F"/>
                </a:solidFill>
                <a:latin typeface="Segoe UI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2 · DONNÉES &amp; PRÉPARATION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Compréhension des données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44752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0147A"/>
                </a:solidFill>
                <a:latin typeface="Segoe UI Semibold"/>
              </a:rPr>
              <a:t>4 catégories de 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521208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584"/>
              </a:spcAft>
            </a:pPr>
            <a:r>
              <a:rPr sz="12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250" b="1">
                <a:solidFill>
                  <a:srgbClr val="00147A"/>
                </a:solidFill>
                <a:latin typeface="Segoe UI"/>
              </a:rPr>
              <a:t>Identification — </a:t>
            </a:r>
            <a:r>
              <a:rPr sz="1250">
                <a:solidFill>
                  <a:srgbClr val="11151F"/>
                </a:solidFill>
                <a:latin typeface="Segoe UI"/>
              </a:rPr>
              <a:t>clés SAP (PO, poste, fournisseur, usine, organisation d'achat)</a:t>
            </a:r>
          </a:p>
          <a:p>
            <a:pPr>
              <a:lnSpc>
                <a:spcPct val="108000"/>
              </a:lnSpc>
              <a:spcAft>
                <a:spcPts val="1584"/>
              </a:spcAft>
            </a:pPr>
            <a:r>
              <a:rPr sz="12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250" b="1">
                <a:solidFill>
                  <a:srgbClr val="00147A"/>
                </a:solidFill>
                <a:latin typeface="Segoe UI"/>
              </a:rPr>
              <a:t>Financières — </a:t>
            </a:r>
            <a:r>
              <a:rPr sz="1250">
                <a:solidFill>
                  <a:srgbClr val="11151F"/>
                </a:solidFill>
                <a:latin typeface="Segoe UI"/>
              </a:rPr>
              <a:t>montants GR/IR, écarts, montants bloqués, prix unitaires</a:t>
            </a:r>
          </a:p>
          <a:p>
            <a:pPr>
              <a:lnSpc>
                <a:spcPct val="108000"/>
              </a:lnSpc>
              <a:spcAft>
                <a:spcPts val="1584"/>
              </a:spcAft>
            </a:pPr>
            <a:r>
              <a:rPr sz="12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250" b="1">
                <a:solidFill>
                  <a:srgbClr val="00147A"/>
                </a:solidFill>
                <a:latin typeface="Segoe UI"/>
              </a:rPr>
              <a:t>Temporelles — </a:t>
            </a:r>
            <a:r>
              <a:rPr sz="1250">
                <a:solidFill>
                  <a:srgbClr val="11151F"/>
                </a:solidFill>
                <a:latin typeface="Segoe UI"/>
              </a:rPr>
              <a:t>dates de comptabilisation, facture, délais de traitement</a:t>
            </a:r>
          </a:p>
          <a:p>
            <a:pPr>
              <a:lnSpc>
                <a:spcPct val="108000"/>
              </a:lnSpc>
              <a:spcAft>
                <a:spcPts val="1584"/>
              </a:spcAft>
            </a:pPr>
            <a:r>
              <a:rPr sz="12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250" b="1">
                <a:solidFill>
                  <a:srgbClr val="00147A"/>
                </a:solidFill>
                <a:latin typeface="Segoe UI"/>
              </a:rPr>
              <a:t>Catégorielles — </a:t>
            </a:r>
            <a:r>
              <a:rPr sz="1250">
                <a:solidFill>
                  <a:srgbClr val="11151F"/>
                </a:solidFill>
                <a:latin typeface="Segoe UI"/>
              </a:rPr>
              <a:t>type de document, groupe matières, conditions de paiement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8620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0147A"/>
                </a:solidFill>
                <a:latin typeface="Segoe UI Semibold"/>
              </a:rPr>
              <a:t>Problèmes de qualité détectés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51960"/>
            <a:ext cx="5212080" cy="1920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584"/>
              </a:spcAft>
            </a:pPr>
            <a:r>
              <a:rPr sz="12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250" b="1">
                <a:solidFill>
                  <a:srgbClr val="00147A"/>
                </a:solidFill>
                <a:latin typeface="Segoe UI"/>
              </a:rPr>
              <a:t>Valeurs manquantes — </a:t>
            </a:r>
            <a:r>
              <a:rPr sz="1250">
                <a:solidFill>
                  <a:srgbClr val="11151F"/>
                </a:solidFill>
                <a:latin typeface="Segoe UI"/>
              </a:rPr>
              <a:t>konnr 100%, charg ≈90% (colonnes écartées) ; montants → 0</a:t>
            </a:r>
          </a:p>
          <a:p>
            <a:pPr>
              <a:lnSpc>
                <a:spcPct val="108000"/>
              </a:lnSpc>
              <a:spcAft>
                <a:spcPts val="1584"/>
              </a:spcAft>
            </a:pPr>
            <a:r>
              <a:rPr sz="12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250" b="1">
                <a:solidFill>
                  <a:srgbClr val="00147A"/>
                </a:solidFill>
                <a:latin typeface="Segoe UI"/>
              </a:rPr>
              <a:t>Valeurs aberrantes — </a:t>
            </a:r>
            <a:r>
              <a:rPr sz="1250">
                <a:solidFill>
                  <a:srgbClr val="11151F"/>
                </a:solidFill>
                <a:latin typeface="Segoe UI"/>
              </a:rPr>
              <a:t>méthode IQR (log) ; winsorisation au 99ᵉ percentile</a:t>
            </a:r>
          </a:p>
          <a:p>
            <a:pPr>
              <a:lnSpc>
                <a:spcPct val="108000"/>
              </a:lnSpc>
              <a:spcAft>
                <a:spcPts val="1584"/>
              </a:spcAft>
            </a:pPr>
            <a:r>
              <a:rPr sz="12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250" b="1">
                <a:solidFill>
                  <a:srgbClr val="00147A"/>
                </a:solidFill>
                <a:latin typeface="Segoe UI"/>
              </a:rPr>
              <a:t>Déséquilibre extrême — </a:t>
            </a:r>
            <a:r>
              <a:rPr sz="1250">
                <a:solidFill>
                  <a:srgbClr val="11151F"/>
                </a:solidFill>
                <a:latin typeface="Segoe UI"/>
              </a:rPr>
              <a:t>classe NONE à 95,73 % des transactions</a:t>
            </a:r>
          </a:p>
        </p:txBody>
      </p:sp>
      <p:pic>
        <p:nvPicPr>
          <p:cNvPr id="11" name="Picture 10" descr="p33_x8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577840" cy="49649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2 · DONNÉES &amp; PRÉPARATION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Prétraitement &amp; feature engineering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A5266"/>
                </a:solidFill>
                <a:latin typeface="Segoe UI"/>
              </a:rPr>
              <a:t>Plus de 30 variables construites en 5 catégories, réduites à 20 features propres pour l'entraînement supervisé.</a:t>
            </a:r>
          </a:p>
        </p:txBody>
      </p:sp>
      <p:sp>
        <p:nvSpPr>
          <p:cNvPr id="8" name="feat0"/>
          <p:cNvSpPr/>
          <p:nvPr/>
        </p:nvSpPr>
        <p:spPr>
          <a:xfrm>
            <a:off x="502920" y="1965960"/>
            <a:ext cx="2724912" cy="192024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2724912" cy="64008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1488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1151F"/>
                </a:solidFill>
                <a:latin typeface="Segoe UI Semibold"/>
              </a:rPr>
              <a:t>Financières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606040"/>
            <a:ext cx="2423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5266"/>
                </a:solidFill>
                <a:latin typeface="Segoe UI"/>
              </a:rPr>
              <a:t>unit_price, total_quantity (ML)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5266"/>
                </a:solidFill>
                <a:latin typeface="Segoe UI"/>
              </a:rPr>
              <a:t>gr_ir_difference, blocked_amount (scoring)</a:t>
            </a:r>
          </a:p>
        </p:txBody>
      </p:sp>
      <p:sp>
        <p:nvSpPr>
          <p:cNvPr id="12" name="feat1"/>
          <p:cNvSpPr/>
          <p:nvPr/>
        </p:nvSpPr>
        <p:spPr>
          <a:xfrm>
            <a:off x="3364991" y="1965960"/>
            <a:ext cx="2724912" cy="192024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4991" y="1965960"/>
            <a:ext cx="2724912" cy="6400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21488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1151F"/>
                </a:solidFill>
                <a:latin typeface="Segoe UI Semibold"/>
              </a:rPr>
              <a:t>Temporelles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9584" y="2606040"/>
            <a:ext cx="2423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5266"/>
                </a:solidFill>
                <a:latin typeface="Segoe UI"/>
              </a:rPr>
              <a:t>days_in_system, posting_month/quarter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5266"/>
                </a:solidFill>
                <a:latin typeface="Segoe UI"/>
              </a:rPr>
              <a:t>gr_ir_delay_flag (30j), critical_delay (90j)</a:t>
            </a:r>
          </a:p>
        </p:txBody>
      </p:sp>
      <p:sp>
        <p:nvSpPr>
          <p:cNvPr id="16" name="feat2"/>
          <p:cNvSpPr/>
          <p:nvPr/>
        </p:nvSpPr>
        <p:spPr>
          <a:xfrm>
            <a:off x="6227064" y="1965960"/>
            <a:ext cx="2724912" cy="192024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7064" y="1965960"/>
            <a:ext cx="2724912" cy="64008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5" y="21488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1151F"/>
                </a:solidFill>
                <a:latin typeface="Segoe UI Semibold"/>
              </a:rPr>
              <a:t>Fournisseur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5" y="2606040"/>
            <a:ext cx="2423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5266"/>
                </a:solidFill>
                <a:latin typeface="Segoe UI"/>
              </a:rPr>
              <a:t>supplier_transaction_count, total_spend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5266"/>
                </a:solidFill>
                <a:latin typeface="Segoe UI"/>
              </a:rPr>
              <a:t>std_amount, avg_aging, high_risk</a:t>
            </a:r>
          </a:p>
        </p:txBody>
      </p:sp>
      <p:sp>
        <p:nvSpPr>
          <p:cNvPr id="20" name="feat3"/>
          <p:cNvSpPr/>
          <p:nvPr/>
        </p:nvSpPr>
        <p:spPr>
          <a:xfrm>
            <a:off x="9089136" y="1965960"/>
            <a:ext cx="2724912" cy="192024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89136" y="1965960"/>
            <a:ext cx="2724912" cy="64008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21488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1151F"/>
                </a:solidFill>
                <a:latin typeface="Segoe UI Semibold"/>
              </a:rPr>
              <a:t>Opérationnelles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2606040"/>
            <a:ext cx="24231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5266"/>
                </a:solidFill>
                <a:latin typeface="Segoe UI"/>
              </a:rPr>
              <a:t>delivery_completed, document_date_known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A5266"/>
                </a:solidFill>
                <a:latin typeface="Segoe UI"/>
              </a:rPr>
              <a:t>has_outline_agreement, has_payment_terms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16052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0147A"/>
                </a:solidFill>
                <a:latin typeface="Segoe UI Semibold"/>
              </a:rPr>
              <a:t>Labels proxy (moteur de règles métier)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572000"/>
            <a:ext cx="1554480" cy="329184"/>
          </a:xfrm>
          <a:prstGeom prst="rect">
            <a:avLst/>
          </a:prstGeom>
          <a:solidFill>
            <a:srgbClr val="001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572000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Label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57400" y="4572000"/>
            <a:ext cx="4572000" cy="329184"/>
          </a:xfrm>
          <a:prstGeom prst="rect">
            <a:avLst/>
          </a:prstGeom>
          <a:solidFill>
            <a:srgbClr val="001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48840" y="4572000"/>
            <a:ext cx="4389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Condition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0" y="4572000"/>
            <a:ext cx="1463040" cy="329184"/>
          </a:xfrm>
          <a:prstGeom prst="rect">
            <a:avLst/>
          </a:prstGeom>
          <a:solidFill>
            <a:srgbClr val="001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4572000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Effectif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4572000"/>
            <a:ext cx="1463040" cy="329184"/>
          </a:xfrm>
          <a:prstGeom prst="rect">
            <a:avLst/>
          </a:prstGeom>
          <a:solidFill>
            <a:srgbClr val="001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79" y="4572000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Proportion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901184"/>
            <a:ext cx="15544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901184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FAE6B"/>
                </a:solidFill>
                <a:latin typeface="Segoe UI"/>
              </a:rPr>
              <a:t>NONE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57400" y="4901184"/>
            <a:ext cx="45720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48840" y="4901184"/>
            <a:ext cx="4389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GR et IR présents et cohérents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29400" y="4901184"/>
            <a:ext cx="14630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0840" y="4901184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282 146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92440" y="4901184"/>
            <a:ext cx="14630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83879" y="4901184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95,73 %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230368"/>
            <a:ext cx="15544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5230368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F5A623"/>
                </a:solidFill>
                <a:latin typeface="Segoe UI"/>
              </a:rPr>
              <a:t>ACCOUNTING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57400" y="5230368"/>
            <a:ext cx="45720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48840" y="5230368"/>
            <a:ext cx="4389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Réception sans facture (GR only)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29400" y="5230368"/>
            <a:ext cx="14630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0840" y="5230368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7 501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92440" y="5230368"/>
            <a:ext cx="14630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83879" y="5230368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2,55 %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5559552"/>
            <a:ext cx="15544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5559552"/>
            <a:ext cx="13716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5484D"/>
                </a:solidFill>
                <a:latin typeface="Segoe UI"/>
              </a:rPr>
              <a:t>DATA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57400" y="5559552"/>
            <a:ext cx="45720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48840" y="5559552"/>
            <a:ext cx="43891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Documents partiels / non réconciliables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29400" y="5559552"/>
            <a:ext cx="14630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20840" y="5559552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5 075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92440" y="5559552"/>
            <a:ext cx="14630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83879" y="5559552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1,72 %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01675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4A5266"/>
                </a:solidFill>
                <a:latin typeface="Segoe UI"/>
              </a:rPr>
              <a:t>20 features propres retenues après exclusion des variables à corrélation &gt; 0,70 avec la cible (gr_ir_difference, invoice_ratio, has_gr, has_ir, gr_amount, total_ir_amount).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2 · DONNÉES &amp; PRÉPARATION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Déséquilibre des classes &amp; SMOTE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A5266"/>
                </a:solidFill>
                <a:latin typeface="Segoe UI"/>
              </a:rPr>
              <a:t>Ratio ≈ 23:1 entre la classe NONE et les classes minoritaires : SMOTE (k=5 voisins) appliqué sur le jeu d'entraînement.</a:t>
            </a:r>
          </a:p>
        </p:txBody>
      </p:sp>
      <p:pic>
        <p:nvPicPr>
          <p:cNvPr id="8" name="Picture 7" descr="p42_x8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10332720" cy="41148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82296" cy="1828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tNo"/>
          <p:cNvSpPr txBox="1"/>
          <p:nvPr/>
        </p:nvSpPr>
        <p:spPr>
          <a:xfrm>
            <a:off x="1051560" y="221284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F6FED"/>
                </a:solidFill>
                <a:latin typeface="Segoe UI Semibold"/>
              </a:rPr>
              <a:t>PARTIE 3</a:t>
            </a:r>
          </a:p>
        </p:txBody>
      </p:sp>
      <p:sp>
        <p:nvSpPr>
          <p:cNvPr id="5" name="DividerTitle"/>
          <p:cNvSpPr txBox="1"/>
          <p:nvPr/>
        </p:nvSpPr>
        <p:spPr>
          <a:xfrm>
            <a:off x="1033271" y="269748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Segoe UI Semibold"/>
              </a:rPr>
              <a:t>Modélisation &amp; évaluation</a:t>
            </a:r>
          </a:p>
        </p:txBody>
      </p:sp>
      <p:sp>
        <p:nvSpPr>
          <p:cNvPr id="6" name="DividerSub"/>
          <p:cNvSpPr txBox="1"/>
          <p:nvPr/>
        </p:nvSpPr>
        <p:spPr>
          <a:xfrm>
            <a:off x="1051560" y="370332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AEBBD9"/>
                </a:solidFill>
                <a:latin typeface="Segoe UI"/>
              </a:rPr>
              <a:t>6 modèles complémentaires, performances mesurées, score de risque composite et assistant IA.</a:t>
            </a:r>
          </a:p>
        </p:txBody>
      </p:sp>
      <p:pic>
        <p:nvPicPr>
          <p:cNvPr id="7" name="Picture 6" descr="p17_x6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554480" cy="10233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75720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680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3 · MODÉLISATION &amp; ÉVALUATION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Une architecture multi-modèles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4A5266"/>
                </a:solidFill>
                <a:latin typeface="Segoe UI"/>
              </a:rPr>
              <a:t>4 modèles supervisés (sur labels proxy) + 2 modèles non supervisés, combinés à des règles métier déterministes.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23C9"/>
                </a:solidFill>
                <a:latin typeface="Segoe UI Semibold"/>
              </a:rPr>
              <a:t>MODÈLES SUPERVISÉS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331720"/>
            <a:ext cx="5577840" cy="713232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31720"/>
            <a:ext cx="54864" cy="713232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404872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51F"/>
                </a:solidFill>
                <a:latin typeface="Segoe UI Semibold"/>
              </a:rPr>
              <a:t>Régression Logistique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697479"/>
            <a:ext cx="5212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4A5266"/>
                </a:solidFill>
                <a:latin typeface="Segoe UI"/>
              </a:rPr>
              <a:t>Baseline interprétable, sigmoïde, probabilités calibrées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36391"/>
            <a:ext cx="5577840" cy="713232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136391"/>
            <a:ext cx="54864" cy="713232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209544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51F"/>
                </a:solidFill>
                <a:latin typeface="Segoe UI Semibold"/>
              </a:rPr>
              <a:t>Random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502151"/>
            <a:ext cx="5212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4A5266"/>
                </a:solidFill>
                <a:latin typeface="Segoe UI"/>
              </a:rPr>
              <a:t>Bagging de N arbres, feature importance (Gini)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41063"/>
            <a:ext cx="5577840" cy="713232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941063"/>
            <a:ext cx="54864" cy="713232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014215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51F"/>
                </a:solidFill>
                <a:latin typeface="Segoe UI Semibold"/>
              </a:rPr>
              <a:t>XGBoost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306824"/>
            <a:ext cx="5212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4A5266"/>
                </a:solidFill>
                <a:latin typeface="Segoe UI"/>
              </a:rPr>
              <a:t>Boosting séquentiel, régularisation L1/L2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745736"/>
            <a:ext cx="5577840" cy="713232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4745736"/>
            <a:ext cx="54864" cy="713232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4818888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51F"/>
                </a:solidFill>
                <a:latin typeface="Segoe UI Semibold"/>
              </a:rPr>
              <a:t>LightGBM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111496"/>
            <a:ext cx="52120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4A5266"/>
                </a:solidFill>
                <a:latin typeface="Segoe UI"/>
              </a:rPr>
              <a:t>GOSS + EFB, optimisé gros volumes — modèle de 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96596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6FED"/>
                </a:solidFill>
                <a:latin typeface="Segoe UI Semibold"/>
              </a:rPr>
              <a:t>MODÈLES NON SUPERVISÉS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331720"/>
            <a:ext cx="5303520" cy="713232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2331720"/>
            <a:ext cx="54864" cy="71323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1112" y="2404872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51F"/>
                </a:solidFill>
                <a:latin typeface="Segoe UI Semibold"/>
              </a:rPr>
              <a:t>Isolation Forest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11112" y="2697479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4A5266"/>
                </a:solidFill>
                <a:latin typeface="Segoe UI"/>
              </a:rPr>
              <a:t>Détection d'anomalies sans label, contamination = 5 %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136391"/>
            <a:ext cx="5303520" cy="713232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3136391"/>
            <a:ext cx="54864" cy="713232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11112" y="3209544"/>
            <a:ext cx="4937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1151F"/>
                </a:solidFill>
                <a:latin typeface="Segoe UI Semibold"/>
              </a:rPr>
              <a:t>K-Means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11112" y="3502151"/>
            <a:ext cx="4937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4A5266"/>
                </a:solidFill>
                <a:latin typeface="Segoe UI"/>
              </a:rPr>
              <a:t>Segmentation comportementale des fournisseurs (k optimal)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114800"/>
            <a:ext cx="53035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Pourquoi 6 modèles ? Chaque famille répond à un besoin distinct : classification supervisée sur anomalies connues, détection non supervisée d'anomalies inédites, et segmentation comportementale des fournisseurs — combinés en un score de risque unique.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3 · MODÉLISATION &amp; ÉVALUATION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Entraînement et validation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1828800" cy="96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2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1600200"/>
            <a:ext cx="171907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51F"/>
                </a:solidFill>
                <a:latin typeface="Segoe UI"/>
              </a:rPr>
              <a:t>Chargement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51F"/>
                </a:solidFill>
                <a:latin typeface="Segoe UI"/>
              </a:rPr>
              <a:t>ml_features_phase2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31720" y="2075688"/>
            <a:ext cx="109728" cy="0"/>
          </a:xfrm>
          <a:prstGeom prst="line">
            <a:avLst/>
          </a:prstGeom>
          <a:ln w="2540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441448" y="1600200"/>
            <a:ext cx="1828800" cy="96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2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96312" y="1600200"/>
            <a:ext cx="171907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51F"/>
                </a:solidFill>
                <a:latin typeface="Segoe UI"/>
              </a:rPr>
              <a:t>Split 80/20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51F"/>
                </a:solidFill>
                <a:latin typeface="Segoe UI"/>
              </a:rPr>
              <a:t>stratifié (seed=42)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70248" y="2075688"/>
            <a:ext cx="109728" cy="0"/>
          </a:xfrm>
          <a:prstGeom prst="line">
            <a:avLst/>
          </a:prstGeom>
          <a:ln w="2540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379976" y="1600200"/>
            <a:ext cx="1828800" cy="96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2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600200"/>
            <a:ext cx="171907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51F"/>
                </a:solidFill>
                <a:latin typeface="Segoe UI"/>
              </a:rPr>
              <a:t>StandardScaler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51F"/>
                </a:solidFill>
                <a:latin typeface="Segoe UI"/>
              </a:rPr>
              <a:t>(fit train only)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08776" y="2075688"/>
            <a:ext cx="109728" cy="0"/>
          </a:xfrm>
          <a:prstGeom prst="line">
            <a:avLst/>
          </a:prstGeom>
          <a:ln w="2540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318504" y="1600200"/>
            <a:ext cx="1828800" cy="96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2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1600200"/>
            <a:ext cx="171907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51F"/>
                </a:solidFill>
                <a:latin typeface="Segoe UI"/>
              </a:rPr>
              <a:t>SMOTE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51F"/>
                </a:solidFill>
                <a:latin typeface="Segoe UI"/>
              </a:rPr>
              <a:t>(k=5)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147304" y="2075688"/>
            <a:ext cx="109727" cy="0"/>
          </a:xfrm>
          <a:prstGeom prst="line">
            <a:avLst/>
          </a:prstGeom>
          <a:ln w="2540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8257032" y="1600200"/>
            <a:ext cx="1828800" cy="96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2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1896" y="1600200"/>
            <a:ext cx="171907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51F"/>
                </a:solidFill>
                <a:latin typeface="Segoe UI"/>
              </a:rPr>
              <a:t>Entraînement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51F"/>
                </a:solidFill>
                <a:latin typeface="Segoe UI"/>
              </a:rPr>
              <a:t>+ CV 5 folds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085832" y="2075688"/>
            <a:ext cx="109728" cy="0"/>
          </a:xfrm>
          <a:prstGeom prst="line">
            <a:avLst/>
          </a:prstGeom>
          <a:ln w="2540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0195560" y="1600200"/>
            <a:ext cx="1828800" cy="960120"/>
          </a:xfrm>
          <a:prstGeom prst="rect">
            <a:avLst/>
          </a:prstGeom>
          <a:solidFill>
            <a:srgbClr val="FFFFFF"/>
          </a:solidFill>
          <a:ln w="13970">
            <a:solidFill>
              <a:srgbClr val="002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50424" y="1600200"/>
            <a:ext cx="1719072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51F"/>
                </a:solidFill>
                <a:latin typeface="Segoe UI"/>
              </a:rPr>
              <a:t>Persistance</a:t>
            </a:r>
          </a:p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1151F"/>
                </a:solidFill>
                <a:latin typeface="Segoe UI"/>
              </a:rPr>
              <a:t>(.pkl, registry)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017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0147A"/>
                </a:solidFill>
                <a:latin typeface="Segoe UI Semibold"/>
              </a:rPr>
              <a:t>Paramètres principaux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429000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23C9"/>
                </a:solidFill>
                <a:latin typeface="Segoe UI"/>
              </a:rPr>
              <a:t>Régression Logistique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71800" y="3429000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5266"/>
                </a:solidFill>
                <a:latin typeface="Consolas"/>
              </a:rPr>
              <a:t>max_iter=1000, C=1.0 (L2), random_state=42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849624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23C9"/>
                </a:solidFill>
                <a:latin typeface="Segoe UI"/>
              </a:rPr>
              <a:t>Random Forest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3849624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5266"/>
                </a:solidFill>
                <a:latin typeface="Consolas"/>
              </a:rPr>
              <a:t>n_estimators=100, max_depth=15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70248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23C9"/>
                </a:solidFill>
                <a:latin typeface="Segoe UI"/>
              </a:rPr>
              <a:t>XGBoost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1800" y="4270248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5266"/>
                </a:solidFill>
                <a:latin typeface="Consolas"/>
              </a:rPr>
              <a:t>n_estimators=100, learning_rate=0.1, max_depth=6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690872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23C9"/>
                </a:solidFill>
                <a:latin typeface="Segoe UI"/>
              </a:rPr>
              <a:t>LightGBM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71800" y="4690872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5266"/>
                </a:solidFill>
                <a:latin typeface="Consolas"/>
              </a:rPr>
              <a:t>n_estimators=100, learning_rate=0.1, num_leaves=31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111496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23C9"/>
                </a:solidFill>
                <a:latin typeface="Segoe UI"/>
              </a:rPr>
              <a:t>Isolation Forest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111496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5266"/>
                </a:solidFill>
                <a:latin typeface="Consolas"/>
              </a:rPr>
              <a:t>contamination=0.05, n_estimators=100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532120"/>
            <a:ext cx="23774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23C9"/>
                </a:solidFill>
                <a:latin typeface="Segoe UI"/>
              </a:rPr>
              <a:t>K-Means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71800" y="5532120"/>
            <a:ext cx="74980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4A5266"/>
                </a:solidFill>
                <a:latin typeface="Consolas"/>
              </a:rPr>
              <a:t>k déterminé par méthode du coude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3 · MODÉLISATION &amp; ÉVALUATION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Résultats — modèles supervisés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pic>
        <p:nvPicPr>
          <p:cNvPr id="7" name="Picture 6" descr="f1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5852160" cy="39207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720840" y="1600200"/>
            <a:ext cx="2011680" cy="384048"/>
          </a:xfrm>
          <a:prstGeom prst="rect">
            <a:avLst/>
          </a:prstGeom>
          <a:solidFill>
            <a:srgbClr val="001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93992" y="1600200"/>
            <a:ext cx="18653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Modèle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32520" y="1600200"/>
            <a:ext cx="1051560" cy="384048"/>
          </a:xfrm>
          <a:prstGeom prst="rect">
            <a:avLst/>
          </a:prstGeom>
          <a:solidFill>
            <a:srgbClr val="001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05672" y="1600200"/>
            <a:ext cx="9052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CV F1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0" y="1600200"/>
            <a:ext cx="1051560" cy="384048"/>
          </a:xfrm>
          <a:prstGeom prst="rect">
            <a:avLst/>
          </a:prstGeom>
          <a:solidFill>
            <a:srgbClr val="001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57232" y="1600200"/>
            <a:ext cx="9052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Train F1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35640" y="1600200"/>
            <a:ext cx="1051560" cy="384048"/>
          </a:xfrm>
          <a:prstGeom prst="rect">
            <a:avLst/>
          </a:prstGeom>
          <a:solidFill>
            <a:srgbClr val="001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08792" y="1600200"/>
            <a:ext cx="9052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Segoe UI"/>
              </a:rPr>
              <a:t>Test F1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20840" y="1984248"/>
            <a:ext cx="2011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93992" y="1984248"/>
            <a:ext cx="18653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Rég. Logistique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32520" y="1984248"/>
            <a:ext cx="1051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05672" y="1984248"/>
            <a:ext cx="9052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0,9255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1984248"/>
            <a:ext cx="1051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7232" y="1984248"/>
            <a:ext cx="9052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0,9256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35640" y="1984248"/>
            <a:ext cx="1051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08792" y="1984248"/>
            <a:ext cx="9052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0,8655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20840" y="2368296"/>
            <a:ext cx="2011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93992" y="2368296"/>
            <a:ext cx="18653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Random Forest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32520" y="2368296"/>
            <a:ext cx="1051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05672" y="2368296"/>
            <a:ext cx="9052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0,9587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84080" y="2368296"/>
            <a:ext cx="1051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57232" y="2368296"/>
            <a:ext cx="9052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0,9593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835640" y="2368296"/>
            <a:ext cx="1051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08792" y="2368296"/>
            <a:ext cx="9052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0,9433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20840" y="2752344"/>
            <a:ext cx="2011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93992" y="2752344"/>
            <a:ext cx="18653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XGBoost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2520" y="2752344"/>
            <a:ext cx="1051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05672" y="2752344"/>
            <a:ext cx="9052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0,9916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84080" y="2752344"/>
            <a:ext cx="1051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57232" y="2752344"/>
            <a:ext cx="9052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0,9920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835640" y="2752344"/>
            <a:ext cx="105156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08792" y="2752344"/>
            <a:ext cx="9052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11151F"/>
                </a:solidFill>
                <a:latin typeface="Segoe UI"/>
              </a:rPr>
              <a:t>0,9826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20840" y="3136391"/>
            <a:ext cx="2011680" cy="384048"/>
          </a:xfrm>
          <a:prstGeom prst="rect">
            <a:avLst/>
          </a:prstGeom>
          <a:solidFill>
            <a:srgbClr val="EAF1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93992" y="3136391"/>
            <a:ext cx="18653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0147A"/>
                </a:solidFill>
                <a:latin typeface="Segoe UI"/>
              </a:rPr>
              <a:t>LightGBM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32520" y="3136391"/>
            <a:ext cx="1051560" cy="384048"/>
          </a:xfrm>
          <a:prstGeom prst="rect">
            <a:avLst/>
          </a:prstGeom>
          <a:solidFill>
            <a:srgbClr val="EAF1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05672" y="3136391"/>
            <a:ext cx="9052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0147A"/>
                </a:solidFill>
                <a:latin typeface="Segoe UI"/>
              </a:rPr>
              <a:t>0,9949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84080" y="3136391"/>
            <a:ext cx="1051560" cy="384048"/>
          </a:xfrm>
          <a:prstGeom prst="rect">
            <a:avLst/>
          </a:prstGeom>
          <a:solidFill>
            <a:srgbClr val="EAF1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57232" y="3136391"/>
            <a:ext cx="9052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0147A"/>
                </a:solidFill>
                <a:latin typeface="Segoe UI"/>
              </a:rPr>
              <a:t>0,9954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835640" y="3136391"/>
            <a:ext cx="1051560" cy="384048"/>
          </a:xfrm>
          <a:prstGeom prst="rect">
            <a:avLst/>
          </a:prstGeom>
          <a:solidFill>
            <a:srgbClr val="EAF1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08792" y="3136391"/>
            <a:ext cx="90525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00147A"/>
                </a:solidFill>
                <a:latin typeface="Segoe UI"/>
              </a:rPr>
              <a:t>0,9890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3730752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4A5266"/>
                </a:solidFill>
                <a:latin typeface="Segoe UI"/>
              </a:rPr>
              <a:t>LightGBM s'impose comme meilleur modèle (Test F1 = 0,9890) — c'est le seul modèle réinjecté en production, exposé via GET /ml/predict/{transaction_id}. Test réalisé sur 58 945 transactions.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3 · MODÉLISATION &amp; ÉVALUATION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Détection non supervisée — Isolation Forest &amp; K-Means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pic>
        <p:nvPicPr>
          <p:cNvPr id="7" name="Picture 6" descr="p50_x9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17320"/>
            <a:ext cx="11384280" cy="342069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2920" y="534924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  <a:effectLst/>
          <a:effectLst>
            <a:outerShdw blurRad="80000" dist="24000" dir="5400000" rotWithShape="0">
              <a:srgbClr val="1115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5349240"/>
            <a:ext cx="64008" cy="1097280"/>
          </a:xfrm>
          <a:prstGeom prst="rect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5477256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147A"/>
                </a:solidFill>
                <a:latin typeface="Segoe UI Semibold"/>
              </a:rPr>
              <a:t>2 948 / 58 945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5989320"/>
            <a:ext cx="3200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anomalies détectées (5,0 %) — contamination=0,05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534924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  <a:effectLst/>
          <a:effectLst>
            <a:outerShdw blurRad="80000" dist="24000" dir="5400000" rotWithShape="0">
              <a:srgbClr val="1115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5349240"/>
            <a:ext cx="64008" cy="109728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5477256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147A"/>
                </a:solidFill>
                <a:latin typeface="Segoe UI Semibold"/>
              </a:rPr>
              <a:t>k = 2 clusters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5989320"/>
            <a:ext cx="3200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Silhouette Score = 0,9923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5349240"/>
            <a:ext cx="3566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EF"/>
            </a:solidFill>
          </a:ln>
          <a:effectLst/>
          <a:effectLst>
            <a:outerShdw blurRad="80000" dist="24000" dir="5400000" rotWithShape="0">
              <a:srgbClr val="11151F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5349240"/>
            <a:ext cx="64008" cy="109728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5477256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00147A"/>
                </a:solidFill>
                <a:latin typeface="Segoe UI Semibold"/>
              </a:rPr>
              <a:t>Tier 1 / 2 /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5989320"/>
            <a:ext cx="32004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Strategic · Important · Tactical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3 · MODÉLISATION &amp; ÉVALUATION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Importance des features — LightGBM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pic>
        <p:nvPicPr>
          <p:cNvPr id="7" name="Picture 6" descr="p56_x1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10332720" cy="55222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3 · MODÉLISATION &amp; ÉVALUATION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Moteur de scoring de risque composite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pic>
        <p:nvPicPr>
          <p:cNvPr id="7" name="Picture 6" descr="score_we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5943600" cy="30190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29400" y="1417320"/>
            <a:ext cx="5074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147A"/>
                </a:solidFill>
                <a:latin typeface="Consolas"/>
              </a:rPr>
              <a:t>risk_score = Σ wᵢ · sᵢ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965960"/>
            <a:ext cx="50749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4A5266"/>
                </a:solidFill>
                <a:latin typeface="Segoe UI"/>
              </a:rPr>
              <a:t>Score 0-100 combinant 7 composantes pondérées : règles métier SAP, classification d'anomalie, probabilité du modèle LightGBM, anomalie de montant, signal temporel, fréquence et volatilité fournisseur (pondérations v2 recalibrées).</a:t>
            </a:r>
          </a:p>
        </p:txBody>
      </p:sp>
      <p:pic>
        <p:nvPicPr>
          <p:cNvPr id="10" name="Picture 9" descr="risk_levels_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074920"/>
            <a:ext cx="6949440" cy="15115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35240" y="5166360"/>
            <a:ext cx="4069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5266"/>
                </a:solidFill>
                <a:latin typeface="Segoe UI"/>
              </a:rPr>
              <a:t>Quatre niveaux d'action : LOW (aucune action), MEDIUM (revue faible urgence), HIGH (revue recommandée) et CRITICAL (action immédiate, blocage possible).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3 · MODÉLISATION &amp; ÉVALUATION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Assistant IA — architecture RAG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pic>
        <p:nvPicPr>
          <p:cNvPr id="7" name="Picture 6" descr="p61_x10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4297680" cy="4297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12080" y="1463040"/>
            <a:ext cx="649224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2160"/>
              </a:spcAft>
            </a:pPr>
            <a:r>
              <a:rPr sz="12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250" b="1">
                <a:solidFill>
                  <a:srgbClr val="00147A"/>
                </a:solidFill>
                <a:latin typeface="Segoe UI"/>
              </a:rPr>
              <a:t>Embedding — </a:t>
            </a:r>
            <a:r>
              <a:rPr sz="1250">
                <a:solidFill>
                  <a:srgbClr val="11151F"/>
                </a:solidFill>
                <a:latin typeface="Segoe UI"/>
              </a:rPr>
              <a:t>all-MiniLM-L6-v2 (sentence-transformers), 22 millions de paramètres</a:t>
            </a:r>
          </a:p>
          <a:p>
            <a:pPr>
              <a:lnSpc>
                <a:spcPct val="108000"/>
              </a:lnSpc>
              <a:spcAft>
                <a:spcPts val="2160"/>
              </a:spcAft>
            </a:pPr>
            <a:r>
              <a:rPr sz="12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250" b="1">
                <a:solidFill>
                  <a:srgbClr val="00147A"/>
                </a:solidFill>
                <a:latin typeface="Segoe UI"/>
              </a:rPr>
              <a:t>Base vectorielle — </a:t>
            </a:r>
            <a:r>
              <a:rPr sz="1250">
                <a:solidFill>
                  <a:srgbClr val="11151F"/>
                </a:solidFill>
                <a:latin typeface="Segoe UI"/>
              </a:rPr>
              <a:t>ChromaDB, collection persistante p2p_copilot_v2</a:t>
            </a:r>
          </a:p>
          <a:p>
            <a:pPr>
              <a:lnSpc>
                <a:spcPct val="108000"/>
              </a:lnSpc>
              <a:spcAft>
                <a:spcPts val="2160"/>
              </a:spcAft>
            </a:pPr>
            <a:r>
              <a:rPr sz="12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250" b="1">
                <a:solidFill>
                  <a:srgbClr val="00147A"/>
                </a:solidFill>
                <a:latin typeface="Segoe UI"/>
              </a:rPr>
              <a:t>Génération — </a:t>
            </a:r>
            <a:r>
              <a:rPr sz="1250">
                <a:solidFill>
                  <a:srgbClr val="11151F"/>
                </a:solidFill>
                <a:latin typeface="Segoe UI"/>
              </a:rPr>
              <a:t>API Groq, llama-3.3-70b-versatile (retenu en version finale)</a:t>
            </a:r>
          </a:p>
          <a:p>
            <a:pPr>
              <a:lnSpc>
                <a:spcPct val="108000"/>
              </a:lnSpc>
              <a:spcAft>
                <a:spcPts val="2160"/>
              </a:spcAft>
            </a:pPr>
            <a:r>
              <a:rPr sz="12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250" b="1">
                <a:solidFill>
                  <a:srgbClr val="00147A"/>
                </a:solidFill>
                <a:latin typeface="Segoe UI"/>
              </a:rPr>
              <a:t>Fallback — </a:t>
            </a:r>
            <a:r>
              <a:rPr sz="1250">
                <a:solidFill>
                  <a:srgbClr val="11151F"/>
                </a:solidFill>
                <a:latin typeface="Segoe UI"/>
              </a:rPr>
              <a:t>mécanisme déterministe si absence de clé GROQ_API_KEY ou erreur réseau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3977639"/>
            <a:ext cx="1554480" cy="365760"/>
          </a:xfrm>
          <a:prstGeom prst="rect">
            <a:avLst/>
          </a:prstGeom>
          <a:solidFill>
            <a:srgbClr val="001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66944" y="3977639"/>
            <a:ext cx="14447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Critère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3977639"/>
            <a:ext cx="2468880" cy="365760"/>
          </a:xfrm>
          <a:prstGeom prst="rect">
            <a:avLst/>
          </a:prstGeom>
          <a:solidFill>
            <a:srgbClr val="001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21424" y="3977639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Ollama local (llama3.2:1b)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3977639"/>
            <a:ext cx="2468880" cy="365760"/>
          </a:xfrm>
          <a:prstGeom prst="rect">
            <a:avLst/>
          </a:prstGeom>
          <a:solidFill>
            <a:srgbClr val="0014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90304" y="3977639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Segoe UI"/>
              </a:rPr>
              <a:t>API Groq (llama-3.3-70b)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4343400"/>
            <a:ext cx="15544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66944" y="4343400"/>
            <a:ext cx="14447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1151F"/>
                </a:solidFill>
                <a:latin typeface="Segoe UI"/>
              </a:rPr>
              <a:t>Taille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4343400"/>
            <a:ext cx="2468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21424" y="4343400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1151F"/>
                </a:solidFill>
                <a:latin typeface="Segoe UI"/>
              </a:rPr>
              <a:t>1 milliard de paramètres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4343400"/>
            <a:ext cx="2468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0304" y="4343400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1151F"/>
                </a:solidFill>
                <a:latin typeface="Segoe UI"/>
              </a:rPr>
              <a:t>70 milliards de paramètres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0" y="4709160"/>
            <a:ext cx="15544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66944" y="4709160"/>
            <a:ext cx="14447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1151F"/>
                </a:solidFill>
                <a:latin typeface="Segoe UI"/>
              </a:rPr>
              <a:t>Qualité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4709160"/>
            <a:ext cx="2468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21424" y="4709160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1151F"/>
                </a:solidFill>
                <a:latin typeface="Segoe UI"/>
              </a:rPr>
              <a:t>Parfois imprécise / peu structurée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4709160"/>
            <a:ext cx="2468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0304" y="4709160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1151F"/>
                </a:solidFill>
                <a:latin typeface="Segoe UI"/>
              </a:rPr>
              <a:t>Précise, structurée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12080" y="5074920"/>
            <a:ext cx="15544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66944" y="5074920"/>
            <a:ext cx="14447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1151F"/>
                </a:solidFill>
                <a:latin typeface="Segoe UI"/>
              </a:rPr>
              <a:t>Latence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5074920"/>
            <a:ext cx="2468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21424" y="5074920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1151F"/>
                </a:solidFill>
                <a:latin typeface="Segoe UI"/>
              </a:rPr>
              <a:t>Variable, élevée sans GPU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35440" y="5074920"/>
            <a:ext cx="2468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90304" y="5074920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1151F"/>
                </a:solidFill>
                <a:latin typeface="Segoe UI"/>
              </a:rPr>
              <a:t>Très faible (LPU Groq)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2080" y="5440680"/>
            <a:ext cx="15544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66944" y="5440680"/>
            <a:ext cx="14447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1151F"/>
                </a:solidFill>
                <a:latin typeface="Segoe UI"/>
              </a:rPr>
              <a:t>Ressources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5440680"/>
            <a:ext cx="2468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21424" y="5440680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1151F"/>
                </a:solidFill>
                <a:latin typeface="Segoe UI"/>
              </a:rPr>
              <a:t>CPU/GPU local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35440" y="5440680"/>
            <a:ext cx="246888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90304" y="5440680"/>
            <a:ext cx="23591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11151F"/>
                </a:solidFill>
                <a:latin typeface="Segoe UI"/>
              </a:rPr>
              <a:t>Aucune ressource locale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82296" cy="18288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tNo"/>
          <p:cNvSpPr txBox="1"/>
          <p:nvPr/>
        </p:nvSpPr>
        <p:spPr>
          <a:xfrm>
            <a:off x="1051560" y="221284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F6FED"/>
                </a:solidFill>
                <a:latin typeface="Segoe UI Semibold"/>
              </a:rPr>
              <a:t>PARTIE 4</a:t>
            </a:r>
          </a:p>
        </p:txBody>
      </p:sp>
      <p:sp>
        <p:nvSpPr>
          <p:cNvPr id="5" name="DividerTitle"/>
          <p:cNvSpPr txBox="1"/>
          <p:nvPr/>
        </p:nvSpPr>
        <p:spPr>
          <a:xfrm>
            <a:off x="1033271" y="2697480"/>
            <a:ext cx="96012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Segoe UI Semibold"/>
              </a:rPr>
              <a:t>Déploiement &amp; démonstration</a:t>
            </a:r>
          </a:p>
        </p:txBody>
      </p:sp>
      <p:sp>
        <p:nvSpPr>
          <p:cNvPr id="6" name="DividerSub"/>
          <p:cNvSpPr txBox="1"/>
          <p:nvPr/>
        </p:nvSpPr>
        <p:spPr>
          <a:xfrm>
            <a:off x="1051560" y="3703320"/>
            <a:ext cx="8686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AEBBD9"/>
                </a:solidFill>
                <a:latin typeface="Segoe UI"/>
              </a:rPr>
              <a:t>Architecture technique, plateforme web IDP, pistes Azure et perspectives.</a:t>
            </a:r>
          </a:p>
        </p:txBody>
      </p:sp>
      <p:pic>
        <p:nvPicPr>
          <p:cNvPr id="7" name="Picture 6" descr="p17_x6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411480"/>
            <a:ext cx="1554480" cy="10233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75720" y="6492240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A6680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4 · DÉPLOIEMENT &amp; DÉMONSTRATION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Architecture technique &amp; cas d'utilisation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63040"/>
            <a:ext cx="4937760" cy="3291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2160"/>
              </a:spcAft>
            </a:pPr>
            <a:r>
              <a:rPr sz="12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250" b="1">
                <a:solidFill>
                  <a:srgbClr val="00147A"/>
                </a:solidFill>
                <a:latin typeface="Segoe UI"/>
              </a:rPr>
              <a:t>Backend — </a:t>
            </a:r>
            <a:r>
              <a:rPr sz="1250">
                <a:solidFill>
                  <a:srgbClr val="11151F"/>
                </a:solidFill>
                <a:latin typeface="Segoe UI"/>
              </a:rPr>
              <a:t>FastAPI 2.0.0, routers transactions/suppliers/risk/analytics/alerts/chatbot</a:t>
            </a:r>
          </a:p>
          <a:p>
            <a:pPr>
              <a:lnSpc>
                <a:spcPct val="108000"/>
              </a:lnSpc>
              <a:spcAft>
                <a:spcPts val="2160"/>
              </a:spcAft>
            </a:pPr>
            <a:r>
              <a:rPr sz="12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250" b="1">
                <a:solidFill>
                  <a:srgbClr val="00147A"/>
                </a:solidFill>
                <a:latin typeface="Segoe UI"/>
              </a:rPr>
              <a:t>Services — </a:t>
            </a:r>
            <a:r>
              <a:rPr sz="1250">
                <a:solidFill>
                  <a:srgbClr val="11151F"/>
                </a:solidFill>
                <a:latin typeface="Segoe UI"/>
              </a:rPr>
              <a:t>DataLoaderService, risk_service, enterprise_service, rag_engine</a:t>
            </a:r>
          </a:p>
          <a:p>
            <a:pPr>
              <a:lnSpc>
                <a:spcPct val="108000"/>
              </a:lnSpc>
              <a:spcAft>
                <a:spcPts val="2160"/>
              </a:spcAft>
            </a:pPr>
            <a:r>
              <a:rPr sz="12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250" b="1">
                <a:solidFill>
                  <a:srgbClr val="00147A"/>
                </a:solidFill>
                <a:latin typeface="Segoe UI"/>
              </a:rPr>
              <a:t>Auth — </a:t>
            </a:r>
            <a:r>
              <a:rPr sz="1250">
                <a:solidFill>
                  <a:srgbClr val="11151F"/>
                </a:solidFill>
                <a:latin typeface="Segoe UI"/>
              </a:rPr>
              <a:t>JWT (PyJWT) + bcrypt, SQLite (auth.db) via SQLAlchemy</a:t>
            </a:r>
          </a:p>
          <a:p>
            <a:pPr>
              <a:lnSpc>
                <a:spcPct val="108000"/>
              </a:lnSpc>
              <a:spcAft>
                <a:spcPts val="2160"/>
              </a:spcAft>
            </a:pPr>
            <a:r>
              <a:rPr sz="12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250" b="1">
                <a:solidFill>
                  <a:srgbClr val="00147A"/>
                </a:solidFill>
                <a:latin typeface="Segoe UI"/>
              </a:rPr>
              <a:t>Frontend — </a:t>
            </a:r>
            <a:r>
              <a:rPr sz="1250">
                <a:solidFill>
                  <a:srgbClr val="11151F"/>
                </a:solidFill>
                <a:latin typeface="Segoe UI"/>
              </a:rPr>
              <a:t>React 18 / TypeScript / Vite, Power BI intégré en iframe</a:t>
            </a:r>
          </a:p>
          <a:p>
            <a:pPr>
              <a:lnSpc>
                <a:spcPct val="108000"/>
              </a:lnSpc>
              <a:spcAft>
                <a:spcPts val="2160"/>
              </a:spcAft>
            </a:pPr>
            <a:r>
              <a:rPr sz="12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250" b="1">
                <a:solidFill>
                  <a:srgbClr val="00147A"/>
                </a:solidFill>
                <a:latin typeface="Segoe UI"/>
              </a:rPr>
              <a:t>Langages — </a:t>
            </a:r>
            <a:r>
              <a:rPr sz="1250">
                <a:solidFill>
                  <a:srgbClr val="11151F"/>
                </a:solidFill>
                <a:latin typeface="Segoe UI"/>
              </a:rPr>
              <a:t>Python 3.11, TypeScript, SQL</a:t>
            </a:r>
          </a:p>
        </p:txBody>
      </p:sp>
      <p:pic>
        <p:nvPicPr>
          <p:cNvPr id="8" name="Picture 7" descr="p71_x11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417320"/>
            <a:ext cx="6126480" cy="32025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4 · DÉPLOIEMENT &amp; DÉMONSTRATION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Démonstration — Dashboard &amp; Centre d'alertes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5532120" cy="2889504"/>
          </a:xfrm>
          <a:prstGeom prst="rect">
            <a:avLst/>
          </a:prstGeom>
          <a:solidFill>
            <a:srgbClr val="0A1223"/>
          </a:solidFill>
          <a:ln>
            <a:noFill/>
          </a:ln>
          <a:effectLst/>
          <a:effectLst>
            <a:outerShdw blurRad="110000" dist="35000" dir="5400000" rotWithShape="0">
              <a:srgbClr val="0A1223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21208" y="1508760"/>
            <a:ext cx="100584" cy="100584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508760"/>
            <a:ext cx="100584" cy="10058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0392" y="1508760"/>
            <a:ext cx="100584" cy="100584"/>
          </a:xfrm>
          <a:prstGeom prst="ellipse">
            <a:avLst/>
          </a:prstGeom>
          <a:solidFill>
            <a:srgbClr val="2FA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417320"/>
            <a:ext cx="4617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4CBDA"/>
                </a:solidFill>
                <a:latin typeface="Segoe UI"/>
              </a:rPr>
              <a:t>Executive Dashboard</a:t>
            </a:r>
          </a:p>
        </p:txBody>
      </p:sp>
      <p:pic>
        <p:nvPicPr>
          <p:cNvPr id="12" name="Picture 11" descr="p74_x1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09928"/>
            <a:ext cx="5532120" cy="259689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172200" y="1417320"/>
            <a:ext cx="5532120" cy="2862072"/>
          </a:xfrm>
          <a:prstGeom prst="rect">
            <a:avLst/>
          </a:prstGeom>
          <a:solidFill>
            <a:srgbClr val="0A1223"/>
          </a:solidFill>
          <a:ln>
            <a:noFill/>
          </a:ln>
          <a:effectLst/>
          <a:effectLst>
            <a:outerShdw blurRad="110000" dist="35000" dir="5400000" rotWithShape="0">
              <a:srgbClr val="0A1223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81928" y="1508760"/>
            <a:ext cx="100584" cy="100584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1508760"/>
            <a:ext cx="100584" cy="10058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11112" y="1508760"/>
            <a:ext cx="100584" cy="100584"/>
          </a:xfrm>
          <a:prstGeom prst="ellipse">
            <a:avLst/>
          </a:prstGeom>
          <a:solidFill>
            <a:srgbClr val="2FA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417320"/>
            <a:ext cx="4617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4CBDA"/>
                </a:solidFill>
                <a:latin typeface="Segoe UI"/>
              </a:rPr>
              <a:t>Alert Center</a:t>
            </a:r>
          </a:p>
        </p:txBody>
      </p:sp>
      <p:pic>
        <p:nvPicPr>
          <p:cNvPr id="18" name="Picture 17" descr="p75_x117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09928"/>
            <a:ext cx="5532120" cy="25694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2920" y="534924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A5266"/>
                </a:solidFill>
                <a:latin typeface="Segoe UI"/>
              </a:rPr>
              <a:t>Le Dashboard agrège les KPI globaux (294 722 transactions, 2 293 fournisseurs, score moyen) et la distribution LOW/MEDIUM/HIGH/CRITICAL. Le Centre d'alertes liste les transactions et fournisseurs HIGH ou CRITICAL avec recherche, filtres et pagination.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4 · DÉPLOIEMENT &amp; DÉMONSTRATION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Démonstration — Transactions &amp; Fournisseurs 360°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5532120" cy="2907792"/>
          </a:xfrm>
          <a:prstGeom prst="rect">
            <a:avLst/>
          </a:prstGeom>
          <a:solidFill>
            <a:srgbClr val="0A1223"/>
          </a:solidFill>
          <a:ln>
            <a:noFill/>
          </a:ln>
          <a:effectLst/>
          <a:effectLst>
            <a:outerShdw blurRad="110000" dist="35000" dir="5400000" rotWithShape="0">
              <a:srgbClr val="0A1223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21208" y="1508760"/>
            <a:ext cx="100584" cy="100584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508760"/>
            <a:ext cx="100584" cy="10058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0392" y="1508760"/>
            <a:ext cx="100584" cy="100584"/>
          </a:xfrm>
          <a:prstGeom prst="ellipse">
            <a:avLst/>
          </a:prstGeom>
          <a:solidFill>
            <a:srgbClr val="2FA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417320"/>
            <a:ext cx="4617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4CBDA"/>
                </a:solidFill>
                <a:latin typeface="Segoe UI"/>
              </a:rPr>
              <a:t>Transaction Investigation</a:t>
            </a:r>
          </a:p>
        </p:txBody>
      </p:sp>
      <p:pic>
        <p:nvPicPr>
          <p:cNvPr id="12" name="Picture 11" descr="p76_x11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09928"/>
            <a:ext cx="5532120" cy="261518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172200" y="1417320"/>
            <a:ext cx="5532120" cy="2898648"/>
          </a:xfrm>
          <a:prstGeom prst="rect">
            <a:avLst/>
          </a:prstGeom>
          <a:solidFill>
            <a:srgbClr val="0A1223"/>
          </a:solidFill>
          <a:ln>
            <a:noFill/>
          </a:ln>
          <a:effectLst/>
          <a:effectLst>
            <a:outerShdw blurRad="110000" dist="35000" dir="5400000" rotWithShape="0">
              <a:srgbClr val="0A1223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81928" y="1508760"/>
            <a:ext cx="100584" cy="100584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1508760"/>
            <a:ext cx="100584" cy="10058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11112" y="1508760"/>
            <a:ext cx="100584" cy="100584"/>
          </a:xfrm>
          <a:prstGeom prst="ellipse">
            <a:avLst/>
          </a:prstGeom>
          <a:solidFill>
            <a:srgbClr val="2FA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417320"/>
            <a:ext cx="4617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4CBDA"/>
                </a:solidFill>
                <a:latin typeface="Segoe UI"/>
              </a:rPr>
              <a:t>Supplier Intelligence</a:t>
            </a:r>
          </a:p>
        </p:txBody>
      </p:sp>
      <p:pic>
        <p:nvPicPr>
          <p:cNvPr id="18" name="Picture 17" descr="p76_x11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09928"/>
            <a:ext cx="5532120" cy="2606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2920" y="534924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A5266"/>
                </a:solidFill>
                <a:latin typeface="Segoe UI"/>
              </a:rPr>
              <a:t>Vue Transaction 360° : décomposition du score, profil fournisseur et explication textuelle. Vue Supplier 360° : score, cluster (TRUSTED, STANDARD, MONITORED, HIGH RISK) et top fournisseurs à risque.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4 · DÉPLOIEMENT &amp; DÉMONSTRATION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Démonstration — Assistant IA &amp; Power BI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17320"/>
            <a:ext cx="5532120" cy="3172968"/>
          </a:xfrm>
          <a:prstGeom prst="rect">
            <a:avLst/>
          </a:prstGeom>
          <a:solidFill>
            <a:srgbClr val="0A1223"/>
          </a:solidFill>
          <a:ln>
            <a:noFill/>
          </a:ln>
          <a:effectLst/>
          <a:effectLst>
            <a:outerShdw blurRad="110000" dist="35000" dir="5400000" rotWithShape="0">
              <a:srgbClr val="0A1223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21208" y="1508760"/>
            <a:ext cx="100584" cy="100584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508760"/>
            <a:ext cx="100584" cy="10058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0392" y="1508760"/>
            <a:ext cx="100584" cy="100584"/>
          </a:xfrm>
          <a:prstGeom prst="ellipse">
            <a:avLst/>
          </a:prstGeom>
          <a:solidFill>
            <a:srgbClr val="2FA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417320"/>
            <a:ext cx="4617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4CBDA"/>
                </a:solidFill>
                <a:latin typeface="Segoe UI"/>
              </a:rPr>
              <a:t>AI Risk Assistant</a:t>
            </a:r>
          </a:p>
        </p:txBody>
      </p:sp>
      <p:pic>
        <p:nvPicPr>
          <p:cNvPr id="12" name="Picture 11" descr="p79_x12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709928"/>
            <a:ext cx="5532120" cy="28803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172200" y="1417320"/>
            <a:ext cx="5532120" cy="3026664"/>
          </a:xfrm>
          <a:prstGeom prst="rect">
            <a:avLst/>
          </a:prstGeom>
          <a:solidFill>
            <a:srgbClr val="0A1223"/>
          </a:solidFill>
          <a:ln>
            <a:noFill/>
          </a:ln>
          <a:effectLst/>
          <a:effectLst>
            <a:outerShdw blurRad="110000" dist="35000" dir="5400000" rotWithShape="0">
              <a:srgbClr val="0A1223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81928" y="1508760"/>
            <a:ext cx="100584" cy="100584"/>
          </a:xfrm>
          <a:prstGeom prst="ellipse">
            <a:avLst/>
          </a:prstGeom>
          <a:solidFill>
            <a:srgbClr val="E548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1508760"/>
            <a:ext cx="100584" cy="10058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11112" y="1508760"/>
            <a:ext cx="100584" cy="100584"/>
          </a:xfrm>
          <a:prstGeom prst="ellipse">
            <a:avLst/>
          </a:prstGeom>
          <a:solidFill>
            <a:srgbClr val="2FA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417320"/>
            <a:ext cx="46177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4CBDA"/>
                </a:solidFill>
                <a:latin typeface="Segoe UI"/>
              </a:rPr>
              <a:t>Power BI Dashboard</a:t>
            </a:r>
          </a:p>
        </p:txBody>
      </p:sp>
      <p:pic>
        <p:nvPicPr>
          <p:cNvPr id="18" name="Picture 17" descr="p80_x12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709928"/>
            <a:ext cx="5532120" cy="273405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2920" y="562356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A5266"/>
                </a:solidFill>
                <a:latin typeface="Segoe UI"/>
              </a:rPr>
              <a:t>Le chatbot IDP répond en langage naturel sur fournisseurs, transactions et contrats (RAG + Groq). Le rapport Power BI restitue le suivi contractuel (412 contrats, 37,87 M€) pour les équipes métier.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4 · DÉPLOIEMENT &amp; DÉMONSTRATION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Déploiement prévu sur Microsoft Azure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4A5266"/>
                </a:solidFill>
                <a:latin typeface="Segoe UI"/>
              </a:rPr>
              <a:t>Aucun déploiement cloud réalisé à ce stade — orientation d'industrialisation proposée pour la suite du projet.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6675120" cy="713232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54864" cy="713232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29967"/>
            <a:ext cx="6309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147A"/>
                </a:solidFill>
                <a:latin typeface="Segoe UI Semibold"/>
              </a:rPr>
              <a:t>Conteneurisation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322576"/>
            <a:ext cx="6309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4A5266"/>
                </a:solidFill>
                <a:latin typeface="Segoe UI"/>
              </a:rPr>
              <a:t>Docker (backend FastAPI, frontend Nginx) → Azure Container Registry → App Service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70632"/>
            <a:ext cx="6675120" cy="713232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770632"/>
            <a:ext cx="54864" cy="713232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834639"/>
            <a:ext cx="6309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147A"/>
                </a:solidFill>
                <a:latin typeface="Segoe UI Semibold"/>
              </a:rPr>
              <a:t>CI/CD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127248"/>
            <a:ext cx="6309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4A5266"/>
                </a:solidFill>
                <a:latin typeface="Segoe UI"/>
              </a:rPr>
              <a:t>Pipeline envisagé via GitHub Actions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575303"/>
            <a:ext cx="6675120" cy="713232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575303"/>
            <a:ext cx="54864" cy="713232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639311"/>
            <a:ext cx="6309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147A"/>
                </a:solidFill>
                <a:latin typeface="Segoe UI Semibold"/>
              </a:rPr>
              <a:t>Sécurité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931920"/>
            <a:ext cx="6309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4A5266"/>
                </a:solidFill>
                <a:latin typeface="Segoe UI"/>
              </a:rPr>
              <a:t>Azure Key Vault, HTTPS natif, Microsoft Entra ID (futur)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379976"/>
            <a:ext cx="6675120" cy="713232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379976"/>
            <a:ext cx="54864" cy="713232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443984"/>
            <a:ext cx="6309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147A"/>
                </a:solidFill>
                <a:latin typeface="Segoe UI Semibold"/>
              </a:rPr>
              <a:t>Adaptabilité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736592"/>
            <a:ext cx="6309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4A5266"/>
                </a:solidFill>
                <a:latin typeface="Segoe UI"/>
              </a:rPr>
              <a:t>SQLite → PostgreSQL, Redis Cache, autoscaling / AKS, Event Hubs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184648"/>
            <a:ext cx="6675120" cy="713232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5184648"/>
            <a:ext cx="54864" cy="713232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5248656"/>
            <a:ext cx="6309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0147A"/>
                </a:solidFill>
                <a:latin typeface="Segoe UI Semibold"/>
              </a:rPr>
              <a:t>Coûts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541264"/>
            <a:ext cx="6309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0" i="0">
                <a:solidFill>
                  <a:srgbClr val="4A5266"/>
                </a:solidFill>
                <a:latin typeface="Segoe UI"/>
              </a:rPr>
              <a:t>Pay-as-you-go, Azure Cost Management, scale-to-zero (Container Apps)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196596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F6FED"/>
                </a:solidFill>
                <a:latin typeface="Segoe UI Semibold"/>
              </a:rPr>
              <a:t>Pourquoi Azure 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2377440"/>
            <a:ext cx="4206240" cy="23774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1584"/>
              </a:spcAft>
            </a:pPr>
            <a:r>
              <a:rPr sz="11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150">
                <a:solidFill>
                  <a:srgbClr val="11151F"/>
                </a:solidFill>
                <a:latin typeface="Segoe UI"/>
              </a:rPr>
              <a:t>Intégration native Power BI / Power Automate / Teams</a:t>
            </a:r>
          </a:p>
          <a:p>
            <a:pPr>
              <a:lnSpc>
                <a:spcPct val="108000"/>
              </a:lnSpc>
              <a:spcAft>
                <a:spcPts val="1584"/>
              </a:spcAft>
            </a:pPr>
            <a:r>
              <a:rPr sz="11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150">
                <a:solidFill>
                  <a:srgbClr val="11151F"/>
                </a:solidFill>
                <a:latin typeface="Segoe UI"/>
              </a:rPr>
              <a:t>SLA + supervision intégrée (endpoint /healthz)</a:t>
            </a:r>
          </a:p>
          <a:p>
            <a:pPr>
              <a:lnSpc>
                <a:spcPct val="108000"/>
              </a:lnSpc>
              <a:spcAft>
                <a:spcPts val="1584"/>
              </a:spcAft>
            </a:pPr>
            <a:r>
              <a:rPr sz="11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150">
                <a:solidFill>
                  <a:srgbClr val="11151F"/>
                </a:solidFill>
                <a:latin typeface="Segoe UI"/>
              </a:rPr>
              <a:t>Adaptabilité élevée (autoscaling)</a:t>
            </a:r>
          </a:p>
          <a:p>
            <a:pPr>
              <a:lnSpc>
                <a:spcPct val="108000"/>
              </a:lnSpc>
              <a:spcAft>
                <a:spcPts val="1584"/>
              </a:spcAft>
            </a:pPr>
            <a:r>
              <a:rPr sz="1150" b="1">
                <a:solidFill>
                  <a:srgbClr val="0023C9"/>
                </a:solidFill>
                <a:latin typeface="Segoe UI"/>
              </a:rPr>
              <a:t>›  </a:t>
            </a:r>
            <a:r>
              <a:rPr sz="1150">
                <a:solidFill>
                  <a:srgbClr val="11151F"/>
                </a:solidFill>
                <a:latin typeface="Segoe UI"/>
              </a:rPr>
              <a:t>Coût faible à la consommation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PARTIE 4 · DÉPLOIEMENT &amp; DÉMONSTRATION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Limites &amp; perspectives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E5484D"/>
                </a:solidFill>
                <a:latin typeface="Segoe UI Semibold"/>
              </a:rPr>
              <a:t>LIMITES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53949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2520"/>
              </a:spcAft>
            </a:pPr>
            <a:r>
              <a:rPr sz="1300" b="1">
                <a:solidFill>
                  <a:srgbClr val="E5484D"/>
                </a:solidFill>
                <a:latin typeface="Segoe UI"/>
              </a:rPr>
              <a:t>›  </a:t>
            </a:r>
            <a:r>
              <a:rPr sz="1300">
                <a:solidFill>
                  <a:srgbClr val="11151F"/>
                </a:solidFill>
                <a:latin typeface="Segoe UI"/>
              </a:rPr>
              <a:t>Modèles entraînés en l'absence de cas de fraude réellement confirmés (0 occurrence INVOICED_NOT_DELIVERED sur 294 722 transactions)</a:t>
            </a:r>
          </a:p>
          <a:p>
            <a:pPr>
              <a:lnSpc>
                <a:spcPct val="108000"/>
              </a:lnSpc>
              <a:spcAft>
                <a:spcPts val="2520"/>
              </a:spcAft>
            </a:pPr>
            <a:r>
              <a:rPr sz="1300" b="1">
                <a:solidFill>
                  <a:srgbClr val="E5484D"/>
                </a:solidFill>
                <a:latin typeface="Segoe UI"/>
              </a:rPr>
              <a:t>›  </a:t>
            </a:r>
            <a:r>
              <a:rPr sz="1300">
                <a:solidFill>
                  <a:srgbClr val="11151F"/>
                </a:solidFill>
                <a:latin typeface="Segoe UI"/>
              </a:rPr>
              <a:t>Traitement des données périodique, pas en temps réel</a:t>
            </a:r>
          </a:p>
          <a:p>
            <a:pPr>
              <a:lnSpc>
                <a:spcPct val="108000"/>
              </a:lnSpc>
              <a:spcAft>
                <a:spcPts val="2520"/>
              </a:spcAft>
            </a:pPr>
            <a:r>
              <a:rPr sz="1300" b="1">
                <a:solidFill>
                  <a:srgbClr val="E5484D"/>
                </a:solidFill>
                <a:latin typeface="Segoe UI"/>
              </a:rPr>
              <a:t>›  </a:t>
            </a:r>
            <a:r>
              <a:rPr sz="1300">
                <a:solidFill>
                  <a:srgbClr val="11151F"/>
                </a:solidFill>
                <a:latin typeface="Segoe UI"/>
              </a:rPr>
              <a:t>Performances des modèles nécessitant un suivi régulier (model monitoring)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5087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FAE6B"/>
                </a:solidFill>
                <a:latin typeface="Segoe UI Semibold"/>
              </a:rPr>
              <a:t>PERSPECTIVES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965960"/>
            <a:ext cx="539496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08000"/>
              </a:lnSpc>
              <a:spcAft>
                <a:spcPts val="2520"/>
              </a:spcAft>
            </a:pPr>
            <a:r>
              <a:rPr sz="1300" b="1">
                <a:solidFill>
                  <a:srgbClr val="2FAE6B"/>
                </a:solidFill>
                <a:latin typeface="Segoe UI"/>
              </a:rPr>
              <a:t>›  </a:t>
            </a:r>
            <a:r>
              <a:rPr sz="1300" b="1">
                <a:solidFill>
                  <a:srgbClr val="00147A"/>
                </a:solidFill>
                <a:latin typeface="Segoe UI"/>
              </a:rPr>
              <a:t>Industrialisation — </a:t>
            </a:r>
            <a:r>
              <a:rPr sz="1300">
                <a:solidFill>
                  <a:srgbClr val="11151F"/>
                </a:solidFill>
                <a:latin typeface="Segoe UI"/>
              </a:rPr>
              <a:t>robustesse, déployabilité et automatisation de la plateforme (cf. Azure)</a:t>
            </a:r>
          </a:p>
          <a:p>
            <a:pPr>
              <a:lnSpc>
                <a:spcPct val="108000"/>
              </a:lnSpc>
              <a:spcAft>
                <a:spcPts val="2520"/>
              </a:spcAft>
            </a:pPr>
            <a:r>
              <a:rPr sz="1300" b="1">
                <a:solidFill>
                  <a:srgbClr val="2FAE6B"/>
                </a:solidFill>
                <a:latin typeface="Segoe UI"/>
              </a:rPr>
              <a:t>›  </a:t>
            </a:r>
            <a:r>
              <a:rPr sz="1300" b="1">
                <a:solidFill>
                  <a:srgbClr val="00147A"/>
                </a:solidFill>
                <a:latin typeface="Segoe UI"/>
              </a:rPr>
              <a:t>Enrichissement des données — </a:t>
            </a:r>
            <a:r>
              <a:rPr sz="1300">
                <a:solidFill>
                  <a:srgbClr val="11151F"/>
                </a:solidFill>
                <a:latin typeface="Segoe UI"/>
              </a:rPr>
              <a:t>intégration de sources externes complémentaires pour affiner le profil de risque fournisseurs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Bar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readcrumb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6FED"/>
                </a:solidFill>
                <a:latin typeface="Segoe UI Semibold"/>
              </a:rPr>
              <a:t>SYNTHÈSE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75488" y="56692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151F"/>
                </a:solidFill>
                <a:latin typeface="Segoe UI Semibold"/>
              </a:rPr>
              <a:t>Conclusion générale</a:t>
            </a:r>
          </a:p>
        </p:txBody>
      </p:sp>
      <p:sp>
        <p:nvSpPr>
          <p:cNvPr id="5" name="TitleUnderline"/>
          <p:cNvSpPr/>
          <p:nvPr/>
        </p:nvSpPr>
        <p:spPr>
          <a:xfrm>
            <a:off x="502920" y="1207008"/>
            <a:ext cx="1005840" cy="38100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A5266"/>
                </a:solidFill>
                <a:latin typeface="Segoe UI"/>
              </a:rPr>
              <a:t>Le projet IDP a permis de concevoir une plateforme intelligente opérationnelle de surveillance des risques fournisseurs sur le processus SAP P2P de FORVIA, en appliquant de bout en bout la méthodologie CRISP-DM.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606040"/>
            <a:ext cx="3639312" cy="182880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606040"/>
            <a:ext cx="3639312" cy="64008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283464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147A"/>
                </a:solidFill>
                <a:latin typeface="Segoe UI Semibold"/>
              </a:rPr>
              <a:t>Plateforme opérationnelle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42900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4A5266"/>
                </a:solidFill>
                <a:latin typeface="Segoe UI"/>
              </a:rPr>
              <a:t>Pipeline ML, API FastAPI et dashboard React, déployés au centre FIT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88536" y="2606040"/>
            <a:ext cx="3639312" cy="182880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88536" y="2606040"/>
            <a:ext cx="3639312" cy="64008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9703" y="283464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147A"/>
                </a:solidFill>
                <a:latin typeface="Segoe UI Semibold"/>
              </a:rPr>
              <a:t>Réduction de la charge manuelle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3" y="342900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4A5266"/>
                </a:solidFill>
                <a:latin typeface="Segoe UI"/>
              </a:rPr>
              <a:t>Priorisation automatique des transactions à risque élevé/critique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4151" y="2606040"/>
            <a:ext cx="3639312" cy="1828800"/>
          </a:xfrm>
          <a:prstGeom prst="rect">
            <a:avLst/>
          </a:prstGeom>
          <a:solidFill>
            <a:srgbClr val="F3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4151" y="2606040"/>
            <a:ext cx="3639312" cy="64008"/>
          </a:xfrm>
          <a:prstGeom prst="rect">
            <a:avLst/>
          </a:prstGeom>
          <a:solidFill>
            <a:srgbClr val="002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2834640"/>
            <a:ext cx="3246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147A"/>
                </a:solidFill>
                <a:latin typeface="Segoe UI Semibold"/>
              </a:rPr>
              <a:t>Démarche rigoureuse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3429000"/>
            <a:ext cx="3246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4A5266"/>
                </a:solidFill>
                <a:latin typeface="Segoe UI"/>
              </a:rPr>
              <a:t>CRISP-DM appliquée à un problème industriel réel, données SAP P2P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471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IDP — Intelligent Data Platform  |  FORVIA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75720" y="6547104"/>
            <a:ext cx="457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3A6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17_x6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463040"/>
            <a:ext cx="1828800" cy="1203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017520"/>
            <a:ext cx="121916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 Semibold"/>
              </a:rPr>
              <a:t>Merci pour votre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79476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2F6FED"/>
                </a:solidFill>
                <a:latin typeface="Segoe UI"/>
              </a:rP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550408" y="4434840"/>
            <a:ext cx="1097280" cy="38100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6355080"/>
            <a:ext cx="121916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8C9ABC"/>
                </a:solidFill>
                <a:latin typeface="Segoe UI"/>
              </a:rPr>
              <a:t>IDP — Intelligent Data Platform  ·  FORVIA  ·  Ines Boughanmi  ·  2025/2026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