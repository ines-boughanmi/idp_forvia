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F"/>
                </a:solidFill>
                <a:latin typeface="Arial"/>
              </a:rPr>
              <a:t>Comparaison des modèles de classification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SVM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0.93</c:v>
                </c:pt>
                <c:pt idx="2">
                  <c:v>0.89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Précision CV</c:v>
                </c:pt>
              </c:strCache>
            </c:strRef>
          </c:tx>
          <c:spPr>
            <a:solidFill>
              <a:srgbClr val="90CA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SVM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</c:v>
                </c:pt>
                <c:pt idx="1">
                  <c:v>0.91</c:v>
                </c:pt>
                <c:pt idx="2">
                  <c:v>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B5F">
              <a:alpha val="60000"/>
            </a:srgbClr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97A7">
              <a:alpha val="3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Monitoring Platform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&amp; surveillance des risques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Procure-to-Pay (P2P) sur SAP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27432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Ines Boughanmi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Dr. Riadh Bouslimi (ESEN)   |   Mme. Amel Ben Abid (Forvia)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61872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 d'accueil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496312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331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 proposée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73075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15568" y="35661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nettoyage des données SAP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61872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50408" y="10972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ML &amp; Détection d'anomalies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49631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50408" y="2331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 la plateforme web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730752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50408" y="35661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0"/>
            <a:ext cx="640080" cy="6400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 d'Accueil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FORVIA — Inspiring mobility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d'Accueil — FORVIA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1051560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10642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91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2331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dans le monde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équipée d'une techno FORVIA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91440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05156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10642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1691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468880" y="2331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automobile mondial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 SBTi Net-Zero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0" y="91440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85232" y="10515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10642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1691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26,9B€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572000" y="2331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chiffre d'affaires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(exercice 2023)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675120" y="91440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88352" y="105156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106424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0" y="1691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6675120" y="2331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industriels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43 pays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5760" y="39319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48640" y="3977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du stage : OTBS (One Technical Business Solutions) — Bureau de services IT de FORVIA Tunisie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A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dans le processus Procure-to-Pay SAP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— Processus P2P SAP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1790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155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données massif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50876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+64 000 lignes SAP (EKKO, EKPO, EKBE)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système d'analyse centralisé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51790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1155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non détectées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68112" y="150876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GR/IR, prix aberrants, fournisseurs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risque passent sans alerte automatique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26060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11810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27157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monitoring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70432" y="310896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tableau de bord temps réel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surveiller les risques P2P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6060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118104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27157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manuel &amp; lent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68112" y="310896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rétrospective uniquement,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tardives et coûteuses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708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43251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Plateforme IDP Monitoring — analyse ML + tableau de bord interactif + chatbot RAG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 Proposée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691640"/>
            <a:ext cx="1243584" cy="1828800"/>
          </a:xfrm>
          <a:prstGeom prst="roundRect">
            <a:avLst>
              <a:gd name="adj" fmla="val 7353"/>
            </a:avLst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3736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922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6888" y="2395728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EKKO/EKPO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EKBE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2258568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0" y="1691640"/>
            <a:ext cx="1243584" cy="1828800"/>
          </a:xfrm>
          <a:prstGeom prst="roundRect">
            <a:avLst>
              <a:gd name="adj" fmla="val 7353"/>
            </a:avLst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176272" y="1737360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179222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2395728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2258568"/>
            <a:ext cx="320040" cy="3200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410712" y="1691640"/>
            <a:ext cx="1243584" cy="1828800"/>
          </a:xfrm>
          <a:prstGeom prst="roundRect">
            <a:avLst>
              <a:gd name="adj" fmla="val 7353"/>
            </a:avLst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758184" y="1737360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8" y="179222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10712" y="2395728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2258568"/>
            <a:ext cx="320040" cy="32004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992624" y="1691640"/>
            <a:ext cx="1243584" cy="1828800"/>
          </a:xfrm>
          <a:prstGeom prst="roundRect">
            <a:avLst>
              <a:gd name="adj" fmla="val 7353"/>
            </a:avLst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5340096" y="173736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1792224"/>
            <a:ext cx="438912" cy="43891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92624" y="2395728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258568"/>
            <a:ext cx="320040" cy="32004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574536" y="1691640"/>
            <a:ext cx="1243584" cy="1828800"/>
          </a:xfrm>
          <a:prstGeom prst="roundRect">
            <a:avLst>
              <a:gd name="adj" fmla="val 7353"/>
            </a:avLst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6922008" y="173736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6872" y="1792224"/>
            <a:ext cx="438912" cy="43891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574536" y="2395728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Chatbot RAG</a:t>
            </a:r>
            <a:endParaRPr lang="en-US" sz="1050" dirty="0"/>
          </a:p>
        </p:txBody>
      </p:sp>
      <p:sp>
        <p:nvSpPr>
          <p:cNvPr id="29" name="Shape 18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DE7F6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19"/>
          <p:cNvSpPr/>
          <p:nvPr/>
        </p:nvSpPr>
        <p:spPr>
          <a:xfrm>
            <a:off x="54864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: Python 3.11 · FastAPI · React/Vite/TypeScript · PySpark · Scikit-learn · XGBoost · SHAP · ChromaDB · Groq LLaMA-3 · SQLite · Azure DevOps CI/CD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 SAP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PySpark · Tables EKKO / EKPO / EKBE · Feature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 — Tables SAP P2P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5608" y="10058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06070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EKKO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des bons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commande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~12 000 lignes · ~45 colonnes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0248" y="1005840"/>
            <a:ext cx="502920" cy="5029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060704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EKPO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20040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des bons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commande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0040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~30 000 lignes · ~60 colonnes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9144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4888" y="1005840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060704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EKBE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0350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 P2P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0350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~64 000 lignes · ~25 colonnes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préparation :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4069080"/>
            <a:ext cx="1572768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38912" y="4096512"/>
            <a:ext cx="1426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 PySpark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048256" y="4069080"/>
            <a:ext cx="1572768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2121408" y="4096512"/>
            <a:ext cx="1426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Nettoyage &amp; imputation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730752" y="4069080"/>
            <a:ext cx="1572768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803904" y="4096512"/>
            <a:ext cx="1426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413248" y="4069080"/>
            <a:ext cx="1572768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5486400" y="4096512"/>
            <a:ext cx="1426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Encodage &amp; normalisation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095744" y="4069080"/>
            <a:ext cx="1572768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168896" y="4096512"/>
            <a:ext cx="1426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Split Train/Test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0"/>
            <a:ext cx="640080" cy="6400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ML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fournisseurs · Fraude P2P · Explainabilité SHAP · Chatbot RAG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 Développés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5608" y="96012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01498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572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Fournisseurs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993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SHAP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237744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: BON / MOYEN / MAUVAIS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KPIs pondérés · Scorecard Excel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: 0.94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8686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0248" y="96012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014984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1572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Fraude P2P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00400" y="1993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Règles SAP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37560" y="237744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GR/IR (bewtp E vs 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non-supervisée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: 5%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8686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4888" y="960120"/>
            <a:ext cx="502920" cy="5029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014984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1572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035040" y="1993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LLaMA-3.3-70B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72200" y="237744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NumPy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· Sentence-Transformers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43434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4864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GridSearchCV + SMOTE · Validation croisée · Hyperparamètres optimisés · Explainabilité SHAP globale &amp; locale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Évaluation des Modèles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914400"/>
            <a:ext cx="33832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94960" y="914400"/>
            <a:ext cx="1188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0" y="914400"/>
            <a:ext cx="2194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1673352"/>
            <a:ext cx="33832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673352"/>
            <a:ext cx="1188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83680" y="1673352"/>
            <a:ext cx="2194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2432304"/>
            <a:ext cx="33832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94960" y="2432304"/>
            <a:ext cx="1188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83680" y="2432304"/>
            <a:ext cx="2194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94960" y="3191256"/>
            <a:ext cx="33832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94960" y="3191256"/>
            <a:ext cx="1188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BON/MOY/MAU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583680" y="3191256"/>
            <a:ext cx="2194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classifiés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Modèle retenu : Random Forest — meilleur compromis F1/généralisation (CV score 0.92)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 la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· React Frontend · Docker · Azure DevOps CI/CD · Entra ID Auth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Déploiement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6152" y="1115568"/>
            <a:ext cx="493776" cy="49377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664208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React/Vite/TS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10058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1115568"/>
            <a:ext cx="493776" cy="49377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1704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1664208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57800" y="1005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25312" y="1115568"/>
            <a:ext cx="493776" cy="49377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11704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664208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+ SHAP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269480" y="10058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6972" y="1115568"/>
            <a:ext cx="493776" cy="493776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836" y="117043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1664208"/>
            <a:ext cx="15087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0040" y="274320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7552" y="2852928"/>
            <a:ext cx="493776" cy="493776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290779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0040" y="3401568"/>
            <a:ext cx="18288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331720" y="27432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27832" y="2852928"/>
            <a:ext cx="493776" cy="49377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696" y="290779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331720" y="3401568"/>
            <a:ext cx="22860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800600" y="27432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5559552" y="2852928"/>
            <a:ext cx="493776" cy="49377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416" y="2907792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00600" y="3401568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995160" y="274320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7639812" y="2852928"/>
            <a:ext cx="493776" cy="49377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676" y="2907792"/>
            <a:ext cx="384048" cy="38404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95160" y="3401568"/>
            <a:ext cx="17830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320040" y="402336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Text 28"/>
          <p:cNvSpPr/>
          <p:nvPr/>
        </p:nvSpPr>
        <p:spPr>
          <a:xfrm>
            <a:off x="502920" y="40690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Déploiement complet sur Azure en attente d'autorisation DSI/Sécurité. Application fonctionnelle en environnement local (Windows 11, i5-1145G7, 8 GB RAM)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de la Plateforme IDP Monitoring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9903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5389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P2P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435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temps réel des anomalies, scores de risque fournisseurs, alertes GR/IR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960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99032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45389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31920" y="1435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règles métier SAP, export des résultats suspects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960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399032"/>
            <a:ext cx="475488" cy="47548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5389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fournisseurs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66560" y="1435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BON/MOYEN/MAUVAIS, scorecard Excel, SHAP explainabilité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25603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2999232"/>
            <a:ext cx="475488" cy="4754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05409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97280" y="30358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contextuelles sur données P2P, pipeline NumPy cosine similarity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154680" y="25603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2999232"/>
            <a:ext cx="475488" cy="475488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05409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31920" y="30358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SQLite, migration prévue vers Microsoft Entra ID (SSO)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989320" y="25603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2999232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05409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766560" y="30358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DevOps, tests automatisés, déploiement dockerisé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 et axes d'amélioration futurs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Objectifs Atteints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4241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601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full-stack opérationnelle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9601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React, authentification JWT, déploiement local validé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1819656"/>
            <a:ext cx="475488" cy="47548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17373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complet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43400" y="173736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 · Random Forest · Isolation Forest · SHAP · GridSearchCV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25146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" y="259689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51460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P2P fiable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343400" y="251460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0.94 · Règles métier SAP + ML hybride · Résultats exportables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3374136"/>
            <a:ext cx="475488" cy="4754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4290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918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fonctionnel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343400" y="32918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NumPy, Groq LLaMA-3.3-70B, réponses contextuelles P2P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65760" y="41148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4864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Déploiement Azure · Intégration Entra ID SSO · Extension multi-usines · Monitoring drift ML · API temps réel SAP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B5F">
              <a:alpha val="60000"/>
            </a:srgbClr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97A7">
              <a:alpha val="3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2860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 Boughanmi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 · FORVIA / OTBS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Monitoring Platform - PFE Forvia ESEN</dc:title>
  <dc:subject>PptxGenJS Presentation</dc:subject>
  <dc:creator>Ines Boughanmi</dc:creator>
  <cp:lastModifiedBy>Ines Boughanmi</cp:lastModifiedBy>
  <cp:revision>1</cp:revision>
  <dcterms:created xsi:type="dcterms:W3CDTF">2026-06-26T19:02:55Z</dcterms:created>
  <dcterms:modified xsi:type="dcterms:W3CDTF">2026-06-26T19:02:55Z</dcterms:modified>
</cp:coreProperties>
</file>