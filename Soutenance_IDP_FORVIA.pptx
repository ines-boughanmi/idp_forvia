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4389120" cy="6858000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27940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1600200" cy="1053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488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ED"/>
                </a:solidFill>
                <a:latin typeface="Segoe UI Semibold"/>
              </a:rPr>
              <a:t>PROJET DE FIN D'ÉTUDES — MASTÈRE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4203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EBBD9"/>
                </a:solidFill>
                <a:latin typeface="Segoe UI"/>
              </a:rPr>
              <a:t>Business Computing — Data Science and Software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63240"/>
            <a:ext cx="6858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FFFFF"/>
                </a:solidFill>
                <a:latin typeface="Segoe UI Semibold"/>
              </a:rPr>
              <a:t>IDP — Intelligent Data Platform</a:t>
            </a:r>
          </a:p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FFFFF"/>
                </a:solidFill>
                <a:latin typeface="Segoe UI Semibold"/>
              </a:rPr>
              <a:t>Surveillance intelligente des risques</a:t>
            </a:r>
          </a:p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FFFFF"/>
                </a:solidFill>
                <a:latin typeface="Segoe UI Semibold"/>
              </a:rPr>
              <a:t>dans le processus SAP Procure-to-Pay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100584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Élaboré par : Ines Boughanmi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1324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4CBDA"/>
                </a:solidFill>
                <a:latin typeface="Segoe UI"/>
              </a:rPr>
              <a:t>Encadré par : M. Riadh Bouslimi (ESEN)  ·  Mme Amel Ben Abid (FORVIA)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424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C9ABC"/>
                </a:solidFill>
                <a:latin typeface="Segoe UI"/>
              </a:rPr>
              <a:t>Université de la Manouba — École Supérieure d'Économie Numérique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167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C9ABC"/>
                </a:solidFill>
                <a:latin typeface="Segoe UI"/>
              </a:rPr>
              <a:t>Année universitaire 2025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9144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ED"/>
                </a:solidFill>
                <a:latin typeface="Segoe UI Semibold"/>
              </a:rPr>
              <a:t>EN CHIFFRES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294 722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8424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EBBD9"/>
                </a:solidFill>
                <a:latin typeface="Segoe UI"/>
              </a:rPr>
              <a:t>transactions SAP P2P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2432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2 293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91256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EBBD9"/>
                </a:solidFill>
                <a:latin typeface="Segoe UI"/>
              </a:rPr>
              <a:t>fournisseurs analysés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831336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9826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EBBD9"/>
                </a:solidFill>
                <a:latin typeface="Segoe UI"/>
              </a:rPr>
              <a:t>modèles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38344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0-100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60527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EBBD9"/>
                </a:solidFill>
                <a:latin typeface="Segoe UI"/>
              </a:rPr>
              <a:t>score de risque composite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ED"/>
                </a:solidFill>
                <a:latin typeface="Segoe UI Semibold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Déroulement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genda01"/>
          <p:cNvSpPr/>
          <p:nvPr/>
        </p:nvSpPr>
        <p:spPr>
          <a:xfrm>
            <a:off x="502920" y="1783080"/>
            <a:ext cx="11201400" cy="107899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4008" cy="107899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DD6E8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47672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Segoe UI Semibold"/>
              </a:rPr>
              <a:t>Cadre du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3774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FORVIA, le processus P2P, la problématique et la solution IDP</a:t>
            </a:r>
          </a:p>
        </p:txBody>
      </p:sp>
      <p:sp>
        <p:nvSpPr>
          <p:cNvPr id="11" name="agenda02"/>
          <p:cNvSpPr/>
          <p:nvPr/>
        </p:nvSpPr>
        <p:spPr>
          <a:xfrm>
            <a:off x="502920" y="3008376"/>
            <a:ext cx="11201400" cy="107899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08376"/>
            <a:ext cx="64008" cy="107899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72968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DD6E8"/>
                </a:solidFill>
                <a:latin typeface="Segoe UI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172968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Segoe UI Semibold"/>
              </a:rPr>
              <a:t>Données &amp; préparation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0273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Volume, qualité, feature engineering et gestion du déséquilibre</a:t>
            </a:r>
          </a:p>
        </p:txBody>
      </p:sp>
      <p:sp>
        <p:nvSpPr>
          <p:cNvPr id="16" name="agenda03"/>
          <p:cNvSpPr/>
          <p:nvPr/>
        </p:nvSpPr>
        <p:spPr>
          <a:xfrm>
            <a:off x="502920" y="4233672"/>
            <a:ext cx="11201400" cy="107899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33672"/>
            <a:ext cx="64008" cy="107899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DD6E8"/>
                </a:solidFill>
                <a:latin typeface="Segoe UI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398264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Segoe UI Semibold"/>
              </a:rPr>
              <a:t>Modélisation &amp; évaluation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2803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6 modèles ML, performances, score de risque composite, assistant IA</a:t>
            </a:r>
          </a:p>
        </p:txBody>
      </p:sp>
      <p:sp>
        <p:nvSpPr>
          <p:cNvPr id="21" name="agenda04"/>
          <p:cNvSpPr/>
          <p:nvPr/>
        </p:nvSpPr>
        <p:spPr>
          <a:xfrm>
            <a:off x="502920" y="5458968"/>
            <a:ext cx="11201400" cy="107899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458968"/>
            <a:ext cx="64008" cy="107899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2355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DD6E8"/>
                </a:solidFill>
                <a:latin typeface="Segoe UI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623559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Segoe UI Semibold"/>
              </a:rPr>
              <a:t>Déploiement &amp; démonstration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60533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Architecture technique, plateforme web, Azure et perspectives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" cy="1828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tNo"/>
          <p:cNvSpPr txBox="1"/>
          <p:nvPr/>
        </p:nvSpPr>
        <p:spPr>
          <a:xfrm>
            <a:off x="1051560" y="2212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6FED"/>
                </a:solidFill>
                <a:latin typeface="Segoe UI Semibold"/>
              </a:rPr>
              <a:t>PARTIE 1</a:t>
            </a:r>
          </a:p>
        </p:txBody>
      </p:sp>
      <p:sp>
        <p:nvSpPr>
          <p:cNvPr id="5" name="DividerTitle"/>
          <p:cNvSpPr txBox="1"/>
          <p:nvPr/>
        </p:nvSpPr>
        <p:spPr>
          <a:xfrm>
            <a:off x="1033271" y="2697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Cadre du projet</a:t>
            </a:r>
          </a:p>
        </p:txBody>
      </p:sp>
      <p:sp>
        <p:nvSpPr>
          <p:cNvPr id="6" name="DividerSub"/>
          <p:cNvSpPr txBox="1"/>
          <p:nvPr/>
        </p:nvSpPr>
        <p:spPr>
          <a:xfrm>
            <a:off x="1051560" y="3703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BBD9"/>
                </a:solidFill>
                <a:latin typeface="Segoe UI"/>
              </a:rPr>
              <a:t>FORVIA, le centre FIT, le processus Procure-to-Pay et la solution IDP proposée.</a:t>
            </a:r>
          </a:p>
        </p:txBody>
      </p:sp>
      <p:pic>
        <p:nvPicPr>
          <p:cNvPr id="7" name="Picture 6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554480" cy="1023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6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FORVIA &amp; FIT — l'entreprise d'accueil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603504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FORVIA — </a:t>
            </a:r>
            <a:r>
              <a:rPr sz="1450">
                <a:solidFill>
                  <a:srgbClr val="11151F"/>
                </a:solidFill>
                <a:latin typeface="Segoe UI"/>
              </a:rPr>
              <a:t>né de la fusion Faurecia × Hella (2022), 7ᵉ équipementier automobile mondial.</a:t>
            </a:r>
          </a:p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Présence mondiale — </a:t>
            </a:r>
            <a:r>
              <a:rPr sz="1450">
                <a:solidFill>
                  <a:srgbClr val="11151F"/>
                </a:solidFill>
                <a:latin typeface="Segoe UI"/>
              </a:rPr>
              <a:t>plus de 40 pays, 300+ sites industriels, 63 centres de R&amp;D, ~150 000 collaborateurs.</a:t>
            </a:r>
          </a:p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6 pôles d'activité — </a:t>
            </a:r>
            <a:r>
              <a:rPr sz="1450">
                <a:solidFill>
                  <a:srgbClr val="11151F"/>
                </a:solidFill>
                <a:latin typeface="Segoe UI"/>
              </a:rPr>
              <a:t>Sièges automobiles, Intérieurs, Mobilité propre, Électronique, Éclairage, Lifecycle Solutions.</a:t>
            </a:r>
          </a:p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FIT (Faurecia Informatique Tunisie) — </a:t>
            </a:r>
            <a:r>
              <a:rPr sz="1450">
                <a:solidFill>
                  <a:srgbClr val="11151F"/>
                </a:solidFill>
                <a:latin typeface="Segoe UI"/>
              </a:rPr>
              <a:t>centre informatique du groupe à Tunis, SARL fondée en 2009, ~200 collaborateurs.</a:t>
            </a:r>
          </a:p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Missions de FIT — </a:t>
            </a:r>
            <a:r>
              <a:rPr sz="1450">
                <a:solidFill>
                  <a:srgbClr val="11151F"/>
                </a:solidFill>
                <a:latin typeface="Segoe UI"/>
              </a:rPr>
              <a:t>applications métier, intégration SAP, intelligence artificielle, gouvernance SI du groupe.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55448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1554480"/>
            <a:ext cx="64008" cy="13716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1682496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1 véhicule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sur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2468880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dans le monde équipé d'au moins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un produit FORVIA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55448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72600" y="1554480"/>
            <a:ext cx="64008" cy="13716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682496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150 000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3768" y="2468880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collaborateurs, dont 35 000+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ingénieurs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306324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3063240"/>
            <a:ext cx="64008" cy="13716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3191256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2009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3977640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création du centre FIT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à Tunis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306324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3063240"/>
            <a:ext cx="64008" cy="13716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3191256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~200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3977640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collaborateurs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au centre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  <p:transition xmlns:ns17="http://schemas.microsoft.com/office/powerpoint/2010/main" ns17:dur="7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Le processus SAP Procure-to-Pay (P2P)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5266"/>
                </a:solidFill>
                <a:latin typeface="Segoe UI"/>
              </a:rPr>
              <a:t>Le cycle P2P couvre l'ensemble du flux, de la commande d'achat jusqu'au paiement du fournisseur.</a:t>
            </a:r>
          </a:p>
        </p:txBody>
      </p:sp>
      <p:sp>
        <p:nvSpPr>
          <p:cNvPr id="8" name="step_PO"/>
          <p:cNvSpPr/>
          <p:nvPr/>
        </p:nvSpPr>
        <p:spPr>
          <a:xfrm>
            <a:off x="502920" y="1965960"/>
            <a:ext cx="3520440" cy="141732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520440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3C9"/>
                </a:solidFill>
                <a:latin typeface="Segoe UI Semibold"/>
              </a:rPr>
              <a:t>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Purchase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Émission d'une commande d'achat vers un fournisseur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651760"/>
            <a:ext cx="320040" cy="0"/>
          </a:xfrm>
          <a:prstGeom prst="line">
            <a:avLst/>
          </a:prstGeom>
          <a:ln w="27940">
            <a:solidFill>
              <a:srgbClr val="002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ep_GR"/>
          <p:cNvSpPr/>
          <p:nvPr/>
        </p:nvSpPr>
        <p:spPr>
          <a:xfrm>
            <a:off x="4416552" y="1965960"/>
            <a:ext cx="3520440" cy="141732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1965960"/>
            <a:ext cx="3520440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12140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3C9"/>
                </a:solidFill>
                <a:latin typeface="Segoe UI Semibold"/>
              </a:rPr>
              <a:t>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6060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Goods 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92608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Réception physique des biens ou services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82712" y="2651760"/>
            <a:ext cx="320040" cy="0"/>
          </a:xfrm>
          <a:prstGeom prst="line">
            <a:avLst/>
          </a:prstGeom>
          <a:ln w="27940">
            <a:solidFill>
              <a:srgbClr val="002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ep_IR"/>
          <p:cNvSpPr/>
          <p:nvPr/>
        </p:nvSpPr>
        <p:spPr>
          <a:xfrm>
            <a:off x="8330183" y="1965960"/>
            <a:ext cx="3520440" cy="141732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30183" y="1965960"/>
            <a:ext cx="3520440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212140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3C9"/>
                </a:solidFill>
                <a:latin typeface="Segoe UI Semibold"/>
              </a:rPr>
              <a:t>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26060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Invoice Receipt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292608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Réception et enregistrement de la facture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749039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147A"/>
                </a:solidFill>
                <a:latin typeface="Segoe UI Semibold"/>
              </a:rPr>
              <a:t>Flux de données du projet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SAP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(table EKBE)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14600" y="4590288"/>
            <a:ext cx="164592" cy="0"/>
          </a:xfrm>
          <a:prstGeom prst="line">
            <a:avLst/>
          </a:prstGeom>
          <a:ln w="304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679192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Palantir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(centralisation)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90872" y="4590288"/>
            <a:ext cx="164592" cy="0"/>
          </a:xfrm>
          <a:prstGeom prst="line">
            <a:avLst/>
          </a:prstGeom>
          <a:ln w="304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855464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46904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Extraction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CSV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67144" y="4590288"/>
            <a:ext cx="164592" cy="0"/>
          </a:xfrm>
          <a:prstGeom prst="line">
            <a:avLst/>
          </a:prstGeom>
          <a:ln w="304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031736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23176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Documents1.csv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43416" y="4590288"/>
            <a:ext cx="164592" cy="0"/>
          </a:xfrm>
          <a:prstGeom prst="line">
            <a:avLst/>
          </a:prstGeom>
          <a:ln w="304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208008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Projet IDP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2578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A5266"/>
                </a:solidFill>
                <a:latin typeface="Segoe UI"/>
              </a:rPr>
              <a:t>Les données SAP P2P transitent par Palantir (plateforme d'intégration et d'analyse) qui centralise, nettoie et structure les données avant extraction. Le projet IDP exploite des extraits déjà validés — aucune connexion directe aux systèmes SAP de production.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Problématique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266"/>
                </a:solidFill>
                <a:latin typeface="Segoe UI"/>
              </a:rPr>
              <a:t>La surveillance actuelle du processus P2P repose sur des contrôles manuels et des rapports SAP périodiques, qui montrent leurs limites face au volume de transactions FORVIA.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4028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Détection tardive</a:t>
            </a:r>
            <a:r>
              <a:rPr sz="1300">
                <a:solidFill>
                  <a:srgbClr val="4A5266"/>
                </a:solidFill>
                <a:latin typeface="Segoe UI"/>
              </a:rPr>
              <a:t>  des anomalies GR/IR (écarts réception/facture) → sur-paiements, blocages de paiement.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0896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Vieillissement non contrôlé</a:t>
            </a:r>
            <a:r>
              <a:rPr sz="1300">
                <a:solidFill>
                  <a:srgbClr val="4A5266"/>
                </a:solidFill>
                <a:latin typeface="Segoe UI"/>
              </a:rPr>
              <a:t>  des factures non rapprochées, sans alerte automatique.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9592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77639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Absence de scoring consolidé</a:t>
            </a:r>
            <a:r>
              <a:rPr sz="1300">
                <a:solidFill>
                  <a:srgbClr val="4A5266"/>
                </a:solidFill>
                <a:latin typeface="Segoe UI"/>
              </a:rPr>
              <a:t>  du risque fournisseur à l'échelle de l'entreprise.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5488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75488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6460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4632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Revue manuelle chronophage</a:t>
            </a:r>
            <a:r>
              <a:rPr sz="1300">
                <a:solidFill>
                  <a:srgbClr val="4A5266"/>
                </a:solidFill>
                <a:latin typeface="Segoe UI"/>
              </a:rPr>
              <a:t>  parcours fastidieux des rapports SAP par les équipes achats/finance.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62356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2356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3328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7150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Pas de tableau de bord unique</a:t>
            </a:r>
            <a:r>
              <a:rPr sz="1300">
                <a:solidFill>
                  <a:srgbClr val="4A5266"/>
                </a:solidFill>
                <a:latin typeface="Segoe UI"/>
              </a:rPr>
              <a:t>  ni de KPI centralisés pour piloter le risque P2P.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Solution proposée — Plateforme IDP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266"/>
                </a:solidFill>
                <a:latin typeface="Segoe UI"/>
              </a:rPr>
              <a:t>Une approche hybride combinant règles métier déterministes et Machine Learning pour un score de risque composite 0–100, par transaction et par fournisseur.</a:t>
            </a:r>
          </a:p>
        </p:txBody>
      </p:sp>
      <p:sp>
        <p:nvSpPr>
          <p:cNvPr id="8" name="pilier0"/>
          <p:cNvSpPr/>
          <p:nvPr/>
        </p:nvSpPr>
        <p:spPr>
          <a:xfrm>
            <a:off x="502920" y="2148840"/>
            <a:ext cx="2724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2724912" cy="82296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1089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Pipeline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88620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Nettoyage, feature engineering, règles métier + 6 modèles ML → score composite</a:t>
            </a:r>
          </a:p>
        </p:txBody>
      </p:sp>
      <p:sp>
        <p:nvSpPr>
          <p:cNvPr id="14" name="pilier1"/>
          <p:cNvSpPr/>
          <p:nvPr/>
        </p:nvSpPr>
        <p:spPr>
          <a:xfrm>
            <a:off x="3364991" y="2148840"/>
            <a:ext cx="2724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1" y="2148840"/>
            <a:ext cx="2724912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3591" y="2423160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1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API REST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88620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Endpoints sécurisés JWT, orchestration du scoring, exposition des données</a:t>
            </a:r>
          </a:p>
        </p:txBody>
      </p:sp>
      <p:sp>
        <p:nvSpPr>
          <p:cNvPr id="20" name="pilier2"/>
          <p:cNvSpPr/>
          <p:nvPr/>
        </p:nvSpPr>
        <p:spPr>
          <a:xfrm>
            <a:off x="6227064" y="2148840"/>
            <a:ext cx="2724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2148840"/>
            <a:ext cx="2724912" cy="82296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5664" y="2423160"/>
            <a:ext cx="502920" cy="502920"/>
          </a:xfrm>
          <a:prstGeom prst="ellipse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31089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Dashboard Web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88620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KPI globaux, vues 360°, transactions à risque, chatbot RAG</a:t>
            </a:r>
          </a:p>
        </p:txBody>
      </p:sp>
      <p:sp>
        <p:nvSpPr>
          <p:cNvPr id="26" name="pilier3"/>
          <p:cNvSpPr/>
          <p:nvPr/>
        </p:nvSpPr>
        <p:spPr>
          <a:xfrm>
            <a:off x="9089136" y="2148840"/>
            <a:ext cx="2724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89136" y="2148840"/>
            <a:ext cx="2724912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17736" y="2423160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1089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Power BI + Power Automate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388620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Reporting métier et workflows d'alerte automatisés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Architecture générale de la plateforme IDP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3C9"/>
                </a:solidFill>
                <a:latin typeface="Segoe UI Semibold"/>
              </a:rPr>
              <a:t>1. DONNÉES SAP P2P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481328"/>
            <a:ext cx="402793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81328"/>
            <a:ext cx="39364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SAP — Table EKBE (FORVIA)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09460" y="1481328"/>
            <a:ext cx="402793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5180" y="1481328"/>
            <a:ext cx="39364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Documents1.csv — 294 722 tx / 2 293 fournisseurs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2340864"/>
            <a:ext cx="0" cy="128016"/>
          </a:xfrm>
          <a:prstGeom prst="line">
            <a:avLst/>
          </a:prstGeom>
          <a:ln w="2032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2560320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24912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2. PIPELINE MACHINE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Ingestion &amp; nettoyage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Feature engineering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Rule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6992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Modèles 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Scoring &amp; Risque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0" y="3419856"/>
            <a:ext cx="0" cy="128016"/>
          </a:xfrm>
          <a:prstGeom prst="line">
            <a:avLst/>
          </a:prstGeom>
          <a:ln w="2032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3639312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03904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3C9"/>
                </a:solidFill>
                <a:latin typeface="Segoe UI Semibold"/>
              </a:rPr>
              <a:t>3. API REST — FastAPI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639312"/>
            <a:ext cx="195910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3639312"/>
            <a:ext cx="186766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Authentification JWT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0630" y="3639312"/>
            <a:ext cx="195910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6350" y="3639312"/>
            <a:ext cx="186766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Orchestration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9460" y="3639312"/>
            <a:ext cx="195910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5180" y="3639312"/>
            <a:ext cx="186766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Stockage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78290" y="3639312"/>
            <a:ext cx="195910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4010" y="3639312"/>
            <a:ext cx="186766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Services métier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80" y="4498848"/>
            <a:ext cx="0" cy="128016"/>
          </a:xfrm>
          <a:prstGeom prst="line">
            <a:avLst/>
          </a:prstGeom>
          <a:ln w="2032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02920" y="4718304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882896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4. DASHBOARD WEB — React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26864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2584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Supplier 360°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1928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Transactions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36992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82712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Analytics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92056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37776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Assistant IA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0" y="5577840"/>
            <a:ext cx="0" cy="128016"/>
          </a:xfrm>
          <a:prstGeom prst="line">
            <a:avLst/>
          </a:prstGeom>
          <a:ln w="2032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02920" y="5797296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961888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3C9"/>
                </a:solidFill>
                <a:latin typeface="Segoe UI Semibold"/>
              </a:rPr>
              <a:t>5. RESTITUTION &amp; AUTOMATISATION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71800" y="5797296"/>
            <a:ext cx="402793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5797296"/>
            <a:ext cx="39364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Power BI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09460" y="5797296"/>
            <a:ext cx="402793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55180" y="5797296"/>
            <a:ext cx="39364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Power Automate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  <p:transition xmlns:ns1="http://schemas.microsoft.com/office/powerpoint/2010/main" ns1:dur="1200">
    <ns2:morph xmlns:ns2="http://schemas.microsoft.com/office/powerpoint/2015/09/main" option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Méthodologie CRISP-DM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4A5266"/>
                </a:solidFill>
                <a:latin typeface="Segoe UI"/>
              </a:rPr>
              <a:t>Retenue après comparaison avec KDD, SEMMA et TDSP : couverture complète du cycle de vie, démarche itérative et indépendance vis-à-vis de l'outillage (Python, scikit-learn, FastAPI, React).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Business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26664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Analyse du processus P2P FORVIA, objectifs de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6352" y="2240280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2240280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624328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Data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Understanding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026664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Exploration de Documents1.csv, structure PO/GR/IR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9784" y="2240280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9784" y="2240280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624328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Data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026664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Nettoyage, feature engineering, labels proxy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93592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593592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667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Modeling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79976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6 modèles ML (4 supervisés + 2 non supervisés)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3593592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16352" y="3593592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36667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3512" y="3977640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3512" y="4379976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Cross-validation, F1/AUC-ROC, cohérence métier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9784" y="3593592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9784" y="3593592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6944" y="36667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6944" y="3977640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6944" y="4379976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API FastAPI, dashboard React, RAG, pistes Azure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141732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F6FED"/>
                </a:solidFill>
                <a:latin typeface="Segoe UI Semibold"/>
              </a:rPr>
              <a:t>PLANNING — 20 SEMAINES (FÉV. À JUIN)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1874519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1151F"/>
                </a:solidFill>
                <a:latin typeface="Segoe UI"/>
              </a:rPr>
              <a:t>Compréhension du projet &amp; des données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2075688"/>
            <a:ext cx="4160520" cy="118872"/>
          </a:xfrm>
          <a:prstGeom prst="rect">
            <a:avLst/>
          </a:prstGeom>
          <a:solidFill>
            <a:srgbClr val="E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43800" y="2075688"/>
            <a:ext cx="1849120" cy="11887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2404872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1151F"/>
                </a:solidFill>
                <a:latin typeface="Segoe UI"/>
              </a:rPr>
              <a:t>Préparation des données + Power BI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2606040"/>
            <a:ext cx="4160520" cy="118872"/>
          </a:xfrm>
          <a:prstGeom prst="rect">
            <a:avLst/>
          </a:prstGeom>
          <a:solidFill>
            <a:srgbClr val="E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92920" y="2606040"/>
            <a:ext cx="924560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2935224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1151F"/>
                </a:solidFill>
                <a:latin typeface="Segoe UI"/>
              </a:rPr>
              <a:t>Choix, dév. et optimisation du scoring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43800" y="3136392"/>
            <a:ext cx="4160520" cy="118872"/>
          </a:xfrm>
          <a:prstGeom prst="rect">
            <a:avLst/>
          </a:prstGeom>
          <a:solidFill>
            <a:srgbClr val="E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55200" y="3136392"/>
            <a:ext cx="924560" cy="11887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3465575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1151F"/>
                </a:solidFill>
                <a:latin typeface="Segoe UI"/>
              </a:rPr>
              <a:t>Développement plateforme web (React)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3666744"/>
            <a:ext cx="4160520" cy="118872"/>
          </a:xfrm>
          <a:prstGeom prst="rect">
            <a:avLst/>
          </a:prstGeom>
          <a:solidFill>
            <a:srgbClr val="E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17480" y="3666744"/>
            <a:ext cx="1386840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" cy="1828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tNo"/>
          <p:cNvSpPr txBox="1"/>
          <p:nvPr/>
        </p:nvSpPr>
        <p:spPr>
          <a:xfrm>
            <a:off x="1051560" y="2212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6FED"/>
                </a:solidFill>
                <a:latin typeface="Segoe UI Semibold"/>
              </a:rPr>
              <a:t>PARTIE 2</a:t>
            </a:r>
          </a:p>
        </p:txBody>
      </p:sp>
      <p:sp>
        <p:nvSpPr>
          <p:cNvPr id="5" name="DividerTitle"/>
          <p:cNvSpPr txBox="1"/>
          <p:nvPr/>
        </p:nvSpPr>
        <p:spPr>
          <a:xfrm>
            <a:off x="1033271" y="2697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Données &amp; préparation</a:t>
            </a:r>
          </a:p>
        </p:txBody>
      </p:sp>
      <p:sp>
        <p:nvSpPr>
          <p:cNvPr id="6" name="DividerSub"/>
          <p:cNvSpPr txBox="1"/>
          <p:nvPr/>
        </p:nvSpPr>
        <p:spPr>
          <a:xfrm>
            <a:off x="1051560" y="3703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BBD9"/>
                </a:solidFill>
                <a:latin typeface="Segoe UI"/>
              </a:rPr>
              <a:t>Volume, qualité, feature engineering et gestion du déséquilibre des classes.</a:t>
            </a:r>
          </a:p>
        </p:txBody>
      </p:sp>
      <p:pic>
        <p:nvPicPr>
          <p:cNvPr id="7" name="Picture 6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554480" cy="1023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6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2 · DONNÉES &amp; PRÉPARATION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Données — source et volume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54864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304"/>
              </a:spcAft>
            </a:pPr>
            <a:r>
              <a:rPr sz="13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350" b="1">
                <a:solidFill>
                  <a:srgbClr val="00147A"/>
                </a:solidFill>
                <a:latin typeface="Segoe UI"/>
              </a:rPr>
              <a:t>Source — </a:t>
            </a:r>
            <a:r>
              <a:rPr sz="1350">
                <a:solidFill>
                  <a:srgbClr val="11151F"/>
                </a:solidFill>
                <a:latin typeface="Segoe UI"/>
              </a:rPr>
              <a:t>SAP ERP FORVIA, table EKBE, enrichie par EKKO, EKPO, LFA1.</a:t>
            </a:r>
          </a:p>
          <a:p>
            <a:pPr>
              <a:lnSpc>
                <a:spcPct val="108000"/>
              </a:lnSpc>
              <a:spcAft>
                <a:spcPts val="2304"/>
              </a:spcAft>
            </a:pPr>
            <a:r>
              <a:rPr sz="13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350" b="1">
                <a:solidFill>
                  <a:srgbClr val="00147A"/>
                </a:solidFill>
                <a:latin typeface="Segoe UI"/>
              </a:rPr>
              <a:t>Flux — </a:t>
            </a:r>
            <a:r>
              <a:rPr sz="1350">
                <a:solidFill>
                  <a:srgbClr val="11151F"/>
                </a:solidFill>
                <a:latin typeface="Segoe UI"/>
              </a:rPr>
              <a:t>SAP → Palantir → extraction → fichier CSV → projet IDP.</a:t>
            </a:r>
          </a:p>
          <a:p>
            <a:pPr>
              <a:lnSpc>
                <a:spcPct val="108000"/>
              </a:lnSpc>
              <a:spcAft>
                <a:spcPts val="2304"/>
              </a:spcAft>
            </a:pPr>
            <a:r>
              <a:rPr sz="13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350" b="1">
                <a:solidFill>
                  <a:srgbClr val="00147A"/>
                </a:solidFill>
                <a:latin typeface="Segoe UI"/>
              </a:rPr>
              <a:t>Fichier — </a:t>
            </a:r>
            <a:r>
              <a:rPr sz="1350">
                <a:solidFill>
                  <a:srgbClr val="11151F"/>
                </a:solidFill>
                <a:latin typeface="Segoe UI"/>
              </a:rPr>
              <a:t>Documents1.csv (~240 Mo), 59 colonnes, données internes non publiques.</a:t>
            </a:r>
          </a:p>
          <a:p>
            <a:pPr>
              <a:lnSpc>
                <a:spcPct val="108000"/>
              </a:lnSpc>
              <a:spcAft>
                <a:spcPts val="2304"/>
              </a:spcAft>
            </a:pPr>
            <a:r>
              <a:rPr sz="13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350" b="1">
                <a:solidFill>
                  <a:srgbClr val="00147A"/>
                </a:solidFill>
                <a:latin typeface="Segoe UI"/>
              </a:rPr>
              <a:t>Agrégation — </a:t>
            </a:r>
            <a:r>
              <a:rPr sz="1350">
                <a:solidFill>
                  <a:srgbClr val="11151F"/>
                </a:solidFill>
                <a:latin typeface="Segoe UI"/>
              </a:rPr>
              <a:t>par clé composite (n° PO, n° de poste) : ≈2,09 lignes brutes par transaction agrégée.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0690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069080"/>
            <a:ext cx="64008" cy="141732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197096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616 800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029200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lignes brutes (avant agrégation)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1" y="40690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1" y="4069080"/>
            <a:ext cx="64008" cy="14173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59" y="4197096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59" y="5029200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colonnes brutes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40690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4069080"/>
            <a:ext cx="64008" cy="141732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4197096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294 722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5029200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transactions agrégées (PO / poste)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40690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4069080"/>
            <a:ext cx="64008" cy="14173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4197096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2 293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5029200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fournisseurs distincts retenus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481328"/>
            <a:ext cx="5303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5266"/>
                </a:solidFill>
                <a:latin typeface="Segoe UI"/>
              </a:rPr>
              <a:t>9 170 identifiants fournisseurs (supplier_id) distincts figurent dans le fichier brut ; 2 293 fournisseurs subsistent après nettoyage, agrégation et filtrage.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481328"/>
            <a:ext cx="54864" cy="21031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1481328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 i="0">
                <a:solidFill>
                  <a:srgbClr val="11151F"/>
                </a:solidFill>
                <a:latin typeface="Segoe UI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ransition xmlns:ns17="http://schemas.microsoft.com/office/powerpoint/2010/main" ns17:dur="7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2 · DONNÉES &amp; PRÉPARATION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Compréhension des données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147A"/>
                </a:solidFill>
                <a:latin typeface="Segoe UI Semibold"/>
              </a:rPr>
              <a:t>4 catégories de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2120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Identification — </a:t>
            </a:r>
            <a:r>
              <a:rPr sz="1250">
                <a:solidFill>
                  <a:srgbClr val="11151F"/>
                </a:solidFill>
                <a:latin typeface="Segoe UI"/>
              </a:rPr>
              <a:t>clés SAP (PO, poste, fournisseur, usine, organisation d'achat)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Financières — </a:t>
            </a:r>
            <a:r>
              <a:rPr sz="1250">
                <a:solidFill>
                  <a:srgbClr val="11151F"/>
                </a:solidFill>
                <a:latin typeface="Segoe UI"/>
              </a:rPr>
              <a:t>montants GR/IR, écarts, montants bloqués, prix unitaires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Temporelles — </a:t>
            </a:r>
            <a:r>
              <a:rPr sz="1250">
                <a:solidFill>
                  <a:srgbClr val="11151F"/>
                </a:solidFill>
                <a:latin typeface="Segoe UI"/>
              </a:rPr>
              <a:t>dates de comptabilisation, facture, délais de traitement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Catégorielles — </a:t>
            </a:r>
            <a:r>
              <a:rPr sz="1250">
                <a:solidFill>
                  <a:srgbClr val="11151F"/>
                </a:solidFill>
                <a:latin typeface="Segoe UI"/>
              </a:rPr>
              <a:t>type de document, groupe matières, conditions de paiement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147A"/>
                </a:solidFill>
                <a:latin typeface="Segoe UI Semibold"/>
              </a:rPr>
              <a:t>Problèmes de qualité détectés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521208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Valeurs manquantes — </a:t>
            </a:r>
            <a:r>
              <a:rPr sz="1250">
                <a:solidFill>
                  <a:srgbClr val="11151F"/>
                </a:solidFill>
                <a:latin typeface="Segoe UI"/>
              </a:rPr>
              <a:t>konnr 100%, charg ≈90% (colonnes écartées) ; montants → 0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Valeurs aberrantes — </a:t>
            </a:r>
            <a:r>
              <a:rPr sz="1250">
                <a:solidFill>
                  <a:srgbClr val="11151F"/>
                </a:solidFill>
                <a:latin typeface="Segoe UI"/>
              </a:rPr>
              <a:t>méthode IQR (log) ; winsorisation au 99ᵉ percentile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Déséquilibre extrême — </a:t>
            </a:r>
            <a:r>
              <a:rPr sz="1250">
                <a:solidFill>
                  <a:srgbClr val="11151F"/>
                </a:solidFill>
                <a:latin typeface="Segoe UI"/>
              </a:rPr>
              <a:t>classe NONE à 95,73 % des transactions</a:t>
            </a:r>
          </a:p>
        </p:txBody>
      </p:sp>
      <p:pic>
        <p:nvPicPr>
          <p:cNvPr id="11" name="Picture 10" descr="p33_x8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577840" cy="4964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2 · DONNÉES &amp; PRÉPARATION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Prétraitement &amp; feature engineering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266"/>
                </a:solidFill>
                <a:latin typeface="Segoe UI"/>
              </a:rPr>
              <a:t>Plus de 30 variables construites en 5 catégories, réduites à 20 features propres pour l'entraînement supervisé.</a:t>
            </a:r>
          </a:p>
        </p:txBody>
      </p:sp>
      <p:sp>
        <p:nvSpPr>
          <p:cNvPr id="8" name="feat0"/>
          <p:cNvSpPr/>
          <p:nvPr/>
        </p:nvSpPr>
        <p:spPr>
          <a:xfrm>
            <a:off x="502920" y="1965960"/>
            <a:ext cx="2724912" cy="19202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7249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Financières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0604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unit_price, total_quantity (ML)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gr_ir_difference, blocked_amount (scoring)</a:t>
            </a:r>
          </a:p>
        </p:txBody>
      </p:sp>
      <p:sp>
        <p:nvSpPr>
          <p:cNvPr id="12" name="feat1"/>
          <p:cNvSpPr/>
          <p:nvPr/>
        </p:nvSpPr>
        <p:spPr>
          <a:xfrm>
            <a:off x="3364991" y="1965960"/>
            <a:ext cx="2724912" cy="19202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1" y="1965960"/>
            <a:ext cx="2724912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Temporelles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60604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days_in_system, posting_month/quarter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gr_ir_delay_flag (30j), critical_delay (90j)</a:t>
            </a:r>
          </a:p>
        </p:txBody>
      </p:sp>
      <p:sp>
        <p:nvSpPr>
          <p:cNvPr id="16" name="feat2"/>
          <p:cNvSpPr/>
          <p:nvPr/>
        </p:nvSpPr>
        <p:spPr>
          <a:xfrm>
            <a:off x="6227064" y="1965960"/>
            <a:ext cx="2724912" cy="19202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965960"/>
            <a:ext cx="27249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Fournisseur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60604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supplier_transaction_count, total_spend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std_amount, avg_aging, high_risk</a:t>
            </a:r>
          </a:p>
        </p:txBody>
      </p:sp>
      <p:sp>
        <p:nvSpPr>
          <p:cNvPr id="20" name="feat3"/>
          <p:cNvSpPr/>
          <p:nvPr/>
        </p:nvSpPr>
        <p:spPr>
          <a:xfrm>
            <a:off x="9089136" y="1965960"/>
            <a:ext cx="2724912" cy="19202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1965960"/>
            <a:ext cx="2724912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Opérationnelles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60604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delivery_completed, document_date_known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has_outline_agreement, has_payment_terms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60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147A"/>
                </a:solidFill>
                <a:latin typeface="Segoe UI Semibold"/>
              </a:rPr>
              <a:t>Labels proxy (moteur de règles métier)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1554480" cy="329184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72000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Label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4572000"/>
            <a:ext cx="4572000" cy="329184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4572000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Condition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4572000"/>
            <a:ext cx="1463040" cy="329184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57200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Effectif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572000"/>
            <a:ext cx="1463040" cy="329184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457200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Proportion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901184"/>
            <a:ext cx="15544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90118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FAE6B"/>
                </a:solidFill>
                <a:latin typeface="Segoe UI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4901184"/>
            <a:ext cx="45720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48840" y="4901184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GR et IR présents et cohérents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4901184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490118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282 146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4901184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490118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95,73 %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230368"/>
            <a:ext cx="15544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23036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ACCOUNTING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5230368"/>
            <a:ext cx="45720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5230368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Réception sans facture (GR only)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5230368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230368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7 501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5230368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5230368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2,55 %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559552"/>
            <a:ext cx="15544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55955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5484D"/>
                </a:solidFill>
                <a:latin typeface="Segoe UI"/>
              </a:rPr>
              <a:t>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5559552"/>
            <a:ext cx="45720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48840" y="5559552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Documents partiels / non réconciliables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5559552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0" y="5559552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5 075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5559552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79" y="5559552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1,72 %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4A5266"/>
                </a:solidFill>
                <a:latin typeface="Segoe UI"/>
              </a:rPr>
              <a:t>20 features propres retenues après exclusion des variables à corrélation &gt; 0,70 avec la cible (gr_ir_difference, invoice_ratio, has_gr, has_ir, gr_amount, total_ir_amount).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2 · DONNÉES &amp; PRÉPARATION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Déséquilibre des classes &amp; SMOTE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266"/>
                </a:solidFill>
                <a:latin typeface="Segoe UI"/>
              </a:rPr>
              <a:t>Ratio ≈ 23:1 entre la classe NONE et les classes minoritaires : SMOTE (k=5 voisins) appliqué sur le jeu d'entraînement.</a:t>
            </a:r>
          </a:p>
        </p:txBody>
      </p:sp>
      <p:pic>
        <p:nvPicPr>
          <p:cNvPr id="8" name="Picture 7" descr="p42_x8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10332720" cy="41148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  <p:transition xmlns:ns1="http://schemas.microsoft.com/office/powerpoint/2010/main" ns1:dur="1200">
    <ns2:morph xmlns:ns2="http://schemas.microsoft.com/office/powerpoint/2015/09/main" option="by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" cy="1828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tNo"/>
          <p:cNvSpPr txBox="1"/>
          <p:nvPr/>
        </p:nvSpPr>
        <p:spPr>
          <a:xfrm>
            <a:off x="1051560" y="2212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6FED"/>
                </a:solidFill>
                <a:latin typeface="Segoe UI Semibold"/>
              </a:rPr>
              <a:t>PARTIE 3</a:t>
            </a:r>
          </a:p>
        </p:txBody>
      </p:sp>
      <p:sp>
        <p:nvSpPr>
          <p:cNvPr id="5" name="DividerTitle"/>
          <p:cNvSpPr txBox="1"/>
          <p:nvPr/>
        </p:nvSpPr>
        <p:spPr>
          <a:xfrm>
            <a:off x="1033271" y="2697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Modélisation &amp; évaluation</a:t>
            </a:r>
          </a:p>
        </p:txBody>
      </p:sp>
      <p:sp>
        <p:nvSpPr>
          <p:cNvPr id="6" name="DividerSub"/>
          <p:cNvSpPr txBox="1"/>
          <p:nvPr/>
        </p:nvSpPr>
        <p:spPr>
          <a:xfrm>
            <a:off x="1051560" y="3703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BBD9"/>
                </a:solidFill>
                <a:latin typeface="Segoe UI"/>
              </a:rPr>
              <a:t>6 modèles complémentaires, performances mesurées, score de risque composite et assistant IA.</a:t>
            </a:r>
          </a:p>
        </p:txBody>
      </p:sp>
      <p:pic>
        <p:nvPicPr>
          <p:cNvPr id="7" name="Picture 6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554480" cy="1023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6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Une architecture multi-modèles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266"/>
                </a:solidFill>
                <a:latin typeface="Segoe UI"/>
              </a:rPr>
              <a:t>4 modèles supervisés (sur labels proxy) + 2 modèles non supervisés, combinés à des règles métier déterministes.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23C9"/>
                </a:solidFill>
                <a:latin typeface="Segoe UI Semibold"/>
              </a:rPr>
              <a:t>MODÈLES SUPERVISÉS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557784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04872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Régression Logistique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97479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Baseline interprétable, sigmoïde, probabilités calibrées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36391"/>
            <a:ext cx="557784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36391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09544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502151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Bagging de N arbres, feature importance (Gini)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41063"/>
            <a:ext cx="557784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41063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014215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06824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Boosting séquentiel, régularisation L1/L2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45736"/>
            <a:ext cx="557784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745736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8188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LightGBM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111496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GOSS + EFB, optimisé gros volumes — modèle de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ED"/>
                </a:solidFill>
                <a:latin typeface="Segoe UI Semibold"/>
              </a:rPr>
              <a:t>MODÈLES NON SUPERVISÉS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331720"/>
            <a:ext cx="53035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331720"/>
            <a:ext cx="54864" cy="71323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404872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Isolation Forest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697479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Détection d'anomalies sans label, contamination = 5 %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136391"/>
            <a:ext cx="53035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136391"/>
            <a:ext cx="54864" cy="71323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3209544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K-Means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3502151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Segmentation comportementale des fournisseurs (k optimal)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5303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Pourquoi 6 modèles ? Chaque famille répond à un besoin distinct : classification supervisée sur anomalies connues, détection non supervisée d'anomalies inédites, et segmentation comportementale des fournisseurs — combinés en un score de risque unique.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Entraînement et validation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Chargement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ml_features_phase2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2075688"/>
            <a:ext cx="10972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441448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Split 80/20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stratifié (seed=42)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0248" y="2075688"/>
            <a:ext cx="10972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79976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StandardScaler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(fit train only)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08776" y="2075688"/>
            <a:ext cx="10972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18504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SMOTE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(k=5)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47304" y="2075688"/>
            <a:ext cx="109727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257032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Entraînement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+ CV 5 folds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85832" y="2075688"/>
            <a:ext cx="10972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195560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0424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Persistance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(.pkl, registry)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17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147A"/>
                </a:solidFill>
                <a:latin typeface="Segoe UI Semibold"/>
              </a:rPr>
              <a:t>Paramètres principaux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2900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Régression Logistique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42900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max_iter=1000, C=1.0 (L2), random_state=42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84962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849624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n_estimators=100, max_depth=15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70248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XGBoost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270248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n_estimators=100, learning_rate=0.1, max_depth=6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90872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LightGBM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690872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n_estimators=100, learning_rate=0.1, num_leaves=31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11496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Isolation Forest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111496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contamination=0.05, n_estimators=100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53212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K-Means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553212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k déterminé par méthode du coude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Résultats — modèles supervisés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852160" cy="3920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0840" y="1600200"/>
            <a:ext cx="2011680" cy="384048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600200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Modèle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600200"/>
            <a:ext cx="1051560" cy="384048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1600200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CV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1600200"/>
            <a:ext cx="1051560" cy="384048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7232" y="1600200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Train 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35640" y="1600200"/>
            <a:ext cx="1051560" cy="384048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08792" y="1600200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Test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984248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1984248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Rég. Logistique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984248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984248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0,9255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984248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7232" y="1984248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0,9256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35640" y="1984248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08792" y="1984248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0,8655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2368296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368296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2368296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2368296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0,9587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368296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57232" y="2368296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0,9593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35640" y="2368296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08792" y="2368296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0,9433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2752344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2752344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XGBoost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2752344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05672" y="2752344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0,9916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2752344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57232" y="2752344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0,9920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35640" y="2752344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08792" y="2752344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0,9826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3136391"/>
            <a:ext cx="2011680" cy="384048"/>
          </a:xfrm>
          <a:prstGeom prst="rect">
            <a:avLst/>
          </a:prstGeom>
          <a:solidFill>
            <a:srgbClr val="EAF1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93992" y="3136391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147A"/>
                </a:solidFill>
                <a:latin typeface="Segoe UI"/>
              </a:rPr>
              <a:t>LightGBM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36391"/>
            <a:ext cx="1051560" cy="384048"/>
          </a:xfrm>
          <a:prstGeom prst="rect">
            <a:avLst/>
          </a:prstGeom>
          <a:solidFill>
            <a:srgbClr val="EAF1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05672" y="3136391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147A"/>
                </a:solidFill>
                <a:latin typeface="Segoe UI"/>
              </a:rPr>
              <a:t>0,9949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3136391"/>
            <a:ext cx="1051560" cy="384048"/>
          </a:xfrm>
          <a:prstGeom prst="rect">
            <a:avLst/>
          </a:prstGeom>
          <a:solidFill>
            <a:srgbClr val="EAF1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57232" y="3136391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147A"/>
                </a:solidFill>
                <a:latin typeface="Segoe UI"/>
              </a:rPr>
              <a:t>0,9954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35640" y="3136391"/>
            <a:ext cx="1051560" cy="384048"/>
          </a:xfrm>
          <a:prstGeom prst="rect">
            <a:avLst/>
          </a:prstGeom>
          <a:solidFill>
            <a:srgbClr val="EAF1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08792" y="3136391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147A"/>
                </a:solidFill>
                <a:latin typeface="Segoe UI"/>
              </a:rPr>
              <a:t>0,9890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730752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A5266"/>
                </a:solidFill>
                <a:latin typeface="Segoe UI"/>
              </a:rPr>
              <a:t>LightGBM s'impose comme meilleur modèle (Test F1 = 0,9890) — c'est le seul modèle réinjecté en production, exposé via GET /ml/predict/{transaction_id}. Test réalisé sur 58 945 transactions.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Détection non supervisée — Isolation Forest &amp; K-Means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p50_x9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84280" cy="34206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3492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349240"/>
            <a:ext cx="64008" cy="109728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54772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2 948 / 58 945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989320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anomalies détectées (5,0 %) — contamination=0,05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53492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5349240"/>
            <a:ext cx="64008" cy="109728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54772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k = 2 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5989320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Silhouette Score = 0,9923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53492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5349240"/>
            <a:ext cx="64008" cy="10972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54772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Tier 1 / 2 /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5989320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Strategic · Important · Tactical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  <p:transition xmlns:ns13="http://schemas.microsoft.com/office/powerpoint/2010/main" ns13:dur="7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Importance des features — LightGBM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p56_x1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55222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Moteur de scoring de risque composite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score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943600" cy="30190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1417320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Consolas"/>
              </a:rPr>
              <a:t>risk_score = Σ wᵢ · sᵢ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A5266"/>
                </a:solidFill>
                <a:latin typeface="Segoe UI"/>
              </a:rPr>
              <a:t>Score 0-100 combinant 7 composantes pondérées : règles métier SAP, classification d'anomalie, probabilité du modèle LightGBM, anomalie de montant, signal temporel, fréquence et volatilité fournisseur (pondérations v2 recalibrées).</a:t>
            </a:r>
          </a:p>
        </p:txBody>
      </p:sp>
      <p:pic>
        <p:nvPicPr>
          <p:cNvPr id="10" name="Picture 9" descr="risk_levels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74920"/>
            <a:ext cx="6949440" cy="1511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35240" y="5166360"/>
            <a:ext cx="4069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Quatre niveaux d'action : LOW (aucune action), MEDIUM (revue faible urgence), HIGH (revue recommandée) et CRITICAL (action immédiate, blocage possible).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Assistant IA — architecture RAG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p61_x1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463040"/>
            <a:ext cx="649224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Embedding — </a:t>
            </a:r>
            <a:r>
              <a:rPr sz="1250">
                <a:solidFill>
                  <a:srgbClr val="11151F"/>
                </a:solidFill>
                <a:latin typeface="Segoe UI"/>
              </a:rPr>
              <a:t>all-MiniLM-L6-v2 (sentence-transformers), 22 millions de paramètres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Base vectorielle — </a:t>
            </a:r>
            <a:r>
              <a:rPr sz="1250">
                <a:solidFill>
                  <a:srgbClr val="11151F"/>
                </a:solidFill>
                <a:latin typeface="Segoe UI"/>
              </a:rPr>
              <a:t>ChromaDB, collection persistante p2p_copilot_v2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Génération — </a:t>
            </a:r>
            <a:r>
              <a:rPr sz="1250">
                <a:solidFill>
                  <a:srgbClr val="11151F"/>
                </a:solidFill>
                <a:latin typeface="Segoe UI"/>
              </a:rPr>
              <a:t>API Groq, llama-3.3-70b-versatile (retenu en version finale)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Fallback — </a:t>
            </a:r>
            <a:r>
              <a:rPr sz="1250">
                <a:solidFill>
                  <a:srgbClr val="11151F"/>
                </a:solidFill>
                <a:latin typeface="Segoe UI"/>
              </a:rPr>
              <a:t>mécanisme déterministe si absence de clé GROQ_API_KEY ou erreur réseau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3977639"/>
            <a:ext cx="1554480" cy="365760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6944" y="3977639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Critère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3977639"/>
            <a:ext cx="2468880" cy="365760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1424" y="3977639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Ollama local (llama3.2:1b)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3977639"/>
            <a:ext cx="2468880" cy="365760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0304" y="3977639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API Groq (llama-3.3-70b)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434340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4343400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Taille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34340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1424" y="434340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1 milliard de paramètres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434340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434340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70 milliards de paramètres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70916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4709160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Qualité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470916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470916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Parfois imprécise / peu structurée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470916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470916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Précise, structurée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507492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6944" y="5074920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Latence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507492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507492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Variable, élevée sans GPU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507492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0304" y="507492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Très faible (LPU Groq)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544068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66944" y="5440680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Ressources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544068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544068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CPU/GPU local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544068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544068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Aucune ressource locale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" cy="1828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tNo"/>
          <p:cNvSpPr txBox="1"/>
          <p:nvPr/>
        </p:nvSpPr>
        <p:spPr>
          <a:xfrm>
            <a:off x="1051560" y="2212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6FED"/>
                </a:solidFill>
                <a:latin typeface="Segoe UI Semibold"/>
              </a:rPr>
              <a:t>PARTIE 4</a:t>
            </a:r>
          </a:p>
        </p:txBody>
      </p:sp>
      <p:sp>
        <p:nvSpPr>
          <p:cNvPr id="5" name="DividerTitle"/>
          <p:cNvSpPr txBox="1"/>
          <p:nvPr/>
        </p:nvSpPr>
        <p:spPr>
          <a:xfrm>
            <a:off x="1033271" y="2697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Déploiement &amp; démonstration</a:t>
            </a:r>
          </a:p>
        </p:txBody>
      </p:sp>
      <p:sp>
        <p:nvSpPr>
          <p:cNvPr id="6" name="DividerSub"/>
          <p:cNvSpPr txBox="1"/>
          <p:nvPr/>
        </p:nvSpPr>
        <p:spPr>
          <a:xfrm>
            <a:off x="1051560" y="3703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BBD9"/>
                </a:solidFill>
                <a:latin typeface="Segoe UI"/>
              </a:rPr>
              <a:t>Architecture technique, plateforme web IDP, pistes Azure et perspectives.</a:t>
            </a:r>
          </a:p>
        </p:txBody>
      </p:sp>
      <p:pic>
        <p:nvPicPr>
          <p:cNvPr id="7" name="Picture 6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554480" cy="1023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68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Architecture technique &amp; cas d'utilisation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49377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Backend — </a:t>
            </a:r>
            <a:r>
              <a:rPr sz="1250">
                <a:solidFill>
                  <a:srgbClr val="11151F"/>
                </a:solidFill>
                <a:latin typeface="Segoe UI"/>
              </a:rPr>
              <a:t>FastAPI 2.0.0, routers transactions/suppliers/risk/analytics/alerts/chatbot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Services — </a:t>
            </a:r>
            <a:r>
              <a:rPr sz="1250">
                <a:solidFill>
                  <a:srgbClr val="11151F"/>
                </a:solidFill>
                <a:latin typeface="Segoe UI"/>
              </a:rPr>
              <a:t>DataLoaderService, risk_service, enterprise_service, rag_engine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Auth — </a:t>
            </a:r>
            <a:r>
              <a:rPr sz="1250">
                <a:solidFill>
                  <a:srgbClr val="11151F"/>
                </a:solidFill>
                <a:latin typeface="Segoe UI"/>
              </a:rPr>
              <a:t>JWT (PyJWT) + bcrypt, SQLite (auth.db) via SQLAlchemy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Frontend — </a:t>
            </a:r>
            <a:r>
              <a:rPr sz="1250">
                <a:solidFill>
                  <a:srgbClr val="11151F"/>
                </a:solidFill>
                <a:latin typeface="Segoe UI"/>
              </a:rPr>
              <a:t>React 18 / TypeScript / Vite, Power BI intégré en iframe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Langages — </a:t>
            </a:r>
            <a:r>
              <a:rPr sz="1250">
                <a:solidFill>
                  <a:srgbClr val="11151F"/>
                </a:solidFill>
                <a:latin typeface="Segoe UI"/>
              </a:rPr>
              <a:t>Python 3.11, TypeScript, SQL</a:t>
            </a:r>
          </a:p>
        </p:txBody>
      </p:sp>
      <p:pic>
        <p:nvPicPr>
          <p:cNvPr id="8" name="Picture 7" descr="p71_x1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6126480" cy="32025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Démonstration — Dashboard &amp; Centre d'alertes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532120" cy="2889504"/>
          </a:xfrm>
          <a:prstGeom prst="rect">
            <a:avLst/>
          </a:prstGeom>
          <a:solidFill>
            <a:srgbClr val="0A1223"/>
          </a:solidFill>
          <a:ln>
            <a:noFill/>
          </a:ln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Executive Dashboard</a:t>
            </a:r>
          </a:p>
        </p:txBody>
      </p:sp>
      <p:pic>
        <p:nvPicPr>
          <p:cNvPr id="12" name="Picture 11" descr="p74_x1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09928"/>
            <a:ext cx="5532120" cy="25968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2200" y="1417320"/>
            <a:ext cx="5532120" cy="2862072"/>
          </a:xfrm>
          <a:prstGeom prst="rect">
            <a:avLst/>
          </a:prstGeom>
          <a:solidFill>
            <a:srgbClr val="0A1223"/>
          </a:solidFill>
          <a:ln>
            <a:noFill/>
          </a:ln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192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1111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Alert Center</a:t>
            </a:r>
          </a:p>
        </p:txBody>
      </p:sp>
      <p:pic>
        <p:nvPicPr>
          <p:cNvPr id="18" name="Picture 17" descr="p75_x11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09928"/>
            <a:ext cx="5532120" cy="2569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Le Dashboard agrège les KPI globaux (294 722 transactions, 2 293 fournisseurs, score moyen) et la distribution LOW/MEDIUM/HIGH/CRITICAL. Le Centre d'alertes liste les transactions et fournisseurs HIGH ou CRITICAL avec recherche, filtres et pagination.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  <p:transition xmlns:ns9="http://schemas.microsoft.com/office/powerpoint/2010/main" ns9:dur="700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Démonstration — Transactions &amp; Fournisseurs 360°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532120" cy="2907792"/>
          </a:xfrm>
          <a:prstGeom prst="rect">
            <a:avLst/>
          </a:prstGeom>
          <a:solidFill>
            <a:srgbClr val="0A1223"/>
          </a:solidFill>
          <a:ln>
            <a:noFill/>
          </a:ln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Transaction Investigation</a:t>
            </a:r>
          </a:p>
        </p:txBody>
      </p:sp>
      <p:pic>
        <p:nvPicPr>
          <p:cNvPr id="12" name="Picture 11" descr="p76_x11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09928"/>
            <a:ext cx="5532120" cy="261518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2200" y="1417320"/>
            <a:ext cx="5532120" cy="2898648"/>
          </a:xfrm>
          <a:prstGeom prst="rect">
            <a:avLst/>
          </a:prstGeom>
          <a:solidFill>
            <a:srgbClr val="0A1223"/>
          </a:solidFill>
          <a:ln>
            <a:noFill/>
          </a:ln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192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1111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Supplier Intelligence</a:t>
            </a:r>
          </a:p>
        </p:txBody>
      </p:sp>
      <p:pic>
        <p:nvPicPr>
          <p:cNvPr id="18" name="Picture 17" descr="p76_x11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09928"/>
            <a:ext cx="5532120" cy="2606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Vue Transaction 360° : décomposition du score, profil fournisseur et explication textuelle. Vue Supplier 360° : score, cluster (TRUSTED, STANDARD, MONITORED, HIGH RISK) et top fournisseurs à risque.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  <p:transition xmlns:ns9="http://schemas.microsoft.com/office/powerpoint/2010/main" ns9:dur="700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Démonstration — Assistant IA &amp; Power BI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532120" cy="3172968"/>
          </a:xfrm>
          <a:prstGeom prst="rect">
            <a:avLst/>
          </a:prstGeom>
          <a:solidFill>
            <a:srgbClr val="0A1223"/>
          </a:solidFill>
          <a:ln>
            <a:noFill/>
          </a:ln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AI Risk Assistant</a:t>
            </a:r>
          </a:p>
        </p:txBody>
      </p:sp>
      <p:pic>
        <p:nvPicPr>
          <p:cNvPr id="12" name="Picture 11" descr="p79_x1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09928"/>
            <a:ext cx="5532120" cy="28803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2200" y="1417320"/>
            <a:ext cx="5532120" cy="3026664"/>
          </a:xfrm>
          <a:prstGeom prst="rect">
            <a:avLst/>
          </a:prstGeom>
          <a:solidFill>
            <a:srgbClr val="0A1223"/>
          </a:solidFill>
          <a:ln>
            <a:noFill/>
          </a:ln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192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1111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Power BI Dashboard</a:t>
            </a:r>
          </a:p>
        </p:txBody>
      </p:sp>
      <p:pic>
        <p:nvPicPr>
          <p:cNvPr id="18" name="Picture 17" descr="p80_x12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09928"/>
            <a:ext cx="5532120" cy="2734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Le chatbot IDP répond en langage naturel sur fournisseurs, transactions et contrats (RAG + Groq). Le rapport Power BI restitue le suivi contractuel (412 contrats, 37,87 M€) pour les équipes métier.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  <p:transition xmlns:ns9="http://schemas.microsoft.com/office/powerpoint/2010/main" ns9:dur="700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Déploiement prévu sur Microsoft Azure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4A5266"/>
                </a:solidFill>
                <a:latin typeface="Segoe UI"/>
              </a:rPr>
              <a:t>Aucun déploiement cloud réalisé à ce stade — orientation d'industrialisation proposée pour la suite du projet.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7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Conteneurisation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22576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Docker (backend FastAPI, frontend Nginx) → Azure Container Registry → App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0632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70632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834639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27248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Pipeline envisagé via GitHub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75303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75303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39311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Sécurité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31920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Azure Key Vault, HTTPS natif, Microsoft Entra ID (futur)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79976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379976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443984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Adaptabilité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36592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SQLite → PostgreSQL, Redis Cache, autoscaling / AKS, Event Hubs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84648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184648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248656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Coûts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541264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Pay-as-you-go, Azure Cost Management, scale-to-zero (Container Apps)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9659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Segoe UI Semibold"/>
              </a:rPr>
              <a:t>Pourquoi Azure 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377440"/>
            <a:ext cx="420624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1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150">
                <a:solidFill>
                  <a:srgbClr val="11151F"/>
                </a:solidFill>
                <a:latin typeface="Segoe UI"/>
              </a:rPr>
              <a:t>Intégration native Power BI / Power Automate / Teams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1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150">
                <a:solidFill>
                  <a:srgbClr val="11151F"/>
                </a:solidFill>
                <a:latin typeface="Segoe UI"/>
              </a:rPr>
              <a:t>SLA + supervision intégrée (endpoint /healthz)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1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150">
                <a:solidFill>
                  <a:srgbClr val="11151F"/>
                </a:solidFill>
                <a:latin typeface="Segoe UI"/>
              </a:rPr>
              <a:t>Adaptabilité élevée (autoscaling)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1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150">
                <a:solidFill>
                  <a:srgbClr val="11151F"/>
                </a:solidFill>
                <a:latin typeface="Segoe UI"/>
              </a:rPr>
              <a:t>Coût faible à la consommation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Limites &amp; perspectives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5484D"/>
                </a:solidFill>
                <a:latin typeface="Segoe UI Semibold"/>
              </a:rPr>
              <a:t>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3949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E5484D"/>
                </a:solidFill>
                <a:latin typeface="Segoe UI"/>
              </a:rPr>
              <a:t>›  </a:t>
            </a:r>
            <a:r>
              <a:rPr sz="1300">
                <a:solidFill>
                  <a:srgbClr val="11151F"/>
                </a:solidFill>
                <a:latin typeface="Segoe UI"/>
              </a:rPr>
              <a:t>Modèles entraînés en l'absence de cas de fraude réellement confirmés (0 occurrence INVOICED_NOT_DELIVERED sur 294 722 transactions)</a:t>
            </a:r>
          </a:p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E5484D"/>
                </a:solidFill>
                <a:latin typeface="Segoe UI"/>
              </a:rPr>
              <a:t>›  </a:t>
            </a:r>
            <a:r>
              <a:rPr sz="1300">
                <a:solidFill>
                  <a:srgbClr val="11151F"/>
                </a:solidFill>
                <a:latin typeface="Segoe UI"/>
              </a:rPr>
              <a:t>Traitement des données périodique, pas en temps réel</a:t>
            </a:r>
          </a:p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E5484D"/>
                </a:solidFill>
                <a:latin typeface="Segoe UI"/>
              </a:rPr>
              <a:t>›  </a:t>
            </a:r>
            <a:r>
              <a:rPr sz="1300">
                <a:solidFill>
                  <a:srgbClr val="11151F"/>
                </a:solidFill>
                <a:latin typeface="Segoe UI"/>
              </a:rPr>
              <a:t>Performances des modèles nécessitant un suivi régulier (model monitoring)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AE6B"/>
                </a:solidFill>
                <a:latin typeface="Segoe UI Semibold"/>
              </a:rPr>
              <a:t>PERSPECTIVES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53949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2FAE6B"/>
                </a:solidFill>
                <a:latin typeface="Segoe UI"/>
              </a:rPr>
              <a:t>›  </a:t>
            </a:r>
            <a:r>
              <a:rPr sz="1300" b="1">
                <a:solidFill>
                  <a:srgbClr val="00147A"/>
                </a:solidFill>
                <a:latin typeface="Segoe UI"/>
              </a:rPr>
              <a:t>Industrialisation — </a:t>
            </a:r>
            <a:r>
              <a:rPr sz="1300">
                <a:solidFill>
                  <a:srgbClr val="11151F"/>
                </a:solidFill>
                <a:latin typeface="Segoe UI"/>
              </a:rPr>
              <a:t>robustesse, déployabilité et automatisation de la plateforme (cf. Azure)</a:t>
            </a:r>
          </a:p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2FAE6B"/>
                </a:solidFill>
                <a:latin typeface="Segoe UI"/>
              </a:rPr>
              <a:t>›  </a:t>
            </a:r>
            <a:r>
              <a:rPr sz="1300" b="1">
                <a:solidFill>
                  <a:srgbClr val="00147A"/>
                </a:solidFill>
                <a:latin typeface="Segoe UI"/>
              </a:rPr>
              <a:t>Enrichissement des données — </a:t>
            </a:r>
            <a:r>
              <a:rPr sz="1300">
                <a:solidFill>
                  <a:srgbClr val="11151F"/>
                </a:solidFill>
                <a:latin typeface="Segoe UI"/>
              </a:rPr>
              <a:t>intégration de sources externes complémentaires pour affiner le profil de risque fournisseurs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SYNTHÈSE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Conclusion générale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5266"/>
                </a:solidFill>
                <a:latin typeface="Segoe UI"/>
              </a:rPr>
              <a:t>Le projet IDP a permis de concevoir une plateforme intelligente opérationnelle de surveillance des risques fournisseurs sur le processus SAP P2P de FORVIA, en appliquant de bout en bout la méthodologie CRISP-DM.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3639312" cy="18288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36393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8346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147A"/>
                </a:solidFill>
                <a:latin typeface="Segoe UI Semibold"/>
              </a:rPr>
              <a:t>Plateforme opérationnelle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42900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4A5266"/>
                </a:solidFill>
                <a:latin typeface="Segoe UI"/>
              </a:rPr>
              <a:t>Pipeline ML, API FastAPI et dashboard React, déployés au centre 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2606040"/>
            <a:ext cx="3639312" cy="18288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2606040"/>
            <a:ext cx="36393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3" y="28346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147A"/>
                </a:solidFill>
                <a:latin typeface="Segoe UI Semibold"/>
              </a:rPr>
              <a:t>Réduction de la charge manuelle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3" y="342900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4A5266"/>
                </a:solidFill>
                <a:latin typeface="Segoe UI"/>
              </a:rPr>
              <a:t>Priorisation automatique des transactions à risque élevé/critique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1" y="2606040"/>
            <a:ext cx="3639312" cy="18288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1" y="2606040"/>
            <a:ext cx="36393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8346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147A"/>
                </a:solidFill>
                <a:latin typeface="Segoe UI Semibold"/>
              </a:rPr>
              <a:t>Démarche rigoureuse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42900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4A5266"/>
                </a:solidFill>
                <a:latin typeface="Segoe UI"/>
              </a:rPr>
              <a:t>CRISP-DM appliquée à un problème industriel réel, données SAP P2P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63040"/>
            <a:ext cx="1828800" cy="1203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2F6FED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50408" y="4434840"/>
            <a:ext cx="109728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C9ABC"/>
                </a:solidFill>
                <a:latin typeface="Segoe UI"/>
              </a:rPr>
              <a:t>IDP — Intelligent Data Platform  ·  FORVIA  ·  Ines Boughanmi  ·  2025/2026</a:t>
            </a:r>
          </a:p>
        </p:txBody>
      </p:sp>
    </p:spTree>
  </p:cSld>
  <p:clrMapOvr>
    <a:masterClrMapping/>
  </p:clrMapOvr>
  <p:transition xmlns:ns1="http://schemas.microsoft.com/office/powerpoint/2010/main" ns1:dur="7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